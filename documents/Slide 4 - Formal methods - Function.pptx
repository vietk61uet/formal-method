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1A2E98-1AE3-4537-B57D-EA580E01EC88}">
  <a:tblStyle styleId="{4E1A2E98-1AE3-4537-B57D-EA580E01EC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3e2074b2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3e2074b2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cee82829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cee82829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2cee828291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2cee828291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2cee828291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2cee828291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2c43760e23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2c43760e23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6f26c75ec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6f26c75e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26f26c75ec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26f26c75ec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26f26c75ec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26f26c75ec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3b353b96e6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3b353b96e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3b353b96e6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3b353b96e6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26f26c75ec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26f26c75ec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26f26c75ec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26f26c75ec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6f26c75ec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6f26c75ec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34d81649f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2" name="Google Shape;2022;g34d81649f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2b3d61adcc9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b3d61adcc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obj">
  <p:cSld name="OBJECT"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4" name="Google Shape;1684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85" name="Google Shape;1685;p33"/>
          <p:cNvSpPr txBox="1"/>
          <p:nvPr>
            <p:ph idx="12" type="sldNum"/>
          </p:nvPr>
        </p:nvSpPr>
        <p:spPr>
          <a:xfrm>
            <a:off x="8021807" y="4873805"/>
            <a:ext cx="34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25400" rtl="0">
              <a:lnSpc>
                <a:spcPct val="103333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/81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4"/>
          <p:cNvGrpSpPr/>
          <p:nvPr/>
        </p:nvGrpSpPr>
        <p:grpSpPr>
          <a:xfrm>
            <a:off x="-114459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4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4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4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4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4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4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4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4"/>
          <p:cNvSpPr txBox="1"/>
          <p:nvPr>
            <p:ph type="ctrTitle"/>
          </p:nvPr>
        </p:nvSpPr>
        <p:spPr>
          <a:xfrm>
            <a:off x="3622800" y="1468575"/>
            <a:ext cx="5521200" cy="14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Các phương pháp hình thức </a:t>
            </a:r>
            <a:endParaRPr sz="3900"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(Formal Methods)</a:t>
            </a:r>
            <a:endParaRPr sz="3900">
              <a:solidFill>
                <a:schemeClr val="dk2"/>
              </a:solidFill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</p:txBody>
      </p:sp>
      <p:sp>
        <p:nvSpPr>
          <p:cNvPr id="1885" name="Google Shape;1885;p34"/>
          <p:cNvSpPr txBox="1"/>
          <p:nvPr>
            <p:ph idx="1" type="subTitle"/>
          </p:nvPr>
        </p:nvSpPr>
        <p:spPr>
          <a:xfrm>
            <a:off x="4751256" y="3857533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TS. Lê Khánh Trình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  <p:sp>
        <p:nvSpPr>
          <p:cNvPr id="1886" name="Google Shape;1886;p34"/>
          <p:cNvSpPr txBox="1"/>
          <p:nvPr>
            <p:ph type="ctrTitle"/>
          </p:nvPr>
        </p:nvSpPr>
        <p:spPr>
          <a:xfrm>
            <a:off x="4059375" y="2881750"/>
            <a:ext cx="4904400" cy="6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94949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Functions</a:t>
            </a:r>
            <a:endParaRPr sz="2400">
              <a:solidFill>
                <a:srgbClr val="49494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35"/>
          <p:cNvSpPr txBox="1"/>
          <p:nvPr>
            <p:ph type="title"/>
          </p:nvPr>
        </p:nvSpPr>
        <p:spPr>
          <a:xfrm>
            <a:off x="2167128" y="326149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892" name="Google Shape;1892;p35"/>
          <p:cNvSpPr txBox="1"/>
          <p:nvPr>
            <p:ph idx="1" type="subTitle"/>
          </p:nvPr>
        </p:nvSpPr>
        <p:spPr>
          <a:xfrm>
            <a:off x="1215350" y="1163600"/>
            <a:ext cx="6703200" cy="30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Thay tên biến (rename)</a:t>
            </a:r>
            <a:r>
              <a:rPr lang="en" sz="1600">
                <a:solidFill>
                  <a:srgbClr val="000000"/>
                </a:solidFill>
              </a:rPr>
              <a:t>	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Miền (Domain) và Kích thước (Size) của hàm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Áp dụng hàm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Hàm nhiều biến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Logic vị từ/bậc nhất (predicate logic)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Hàm quan hệ (relation)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Char char="●"/>
            </a:pPr>
            <a:r>
              <a:rPr b="1" lang="en" sz="1600">
                <a:solidFill>
                  <a:srgbClr val="000000"/>
                </a:solidFill>
              </a:rPr>
              <a:t>Phép loại trừ  (exclusive or/selective union)</a:t>
            </a:r>
            <a:endParaRPr b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36"/>
          <p:cNvSpPr txBox="1"/>
          <p:nvPr>
            <p:ph idx="4294967295" type="title"/>
          </p:nvPr>
        </p:nvSpPr>
        <p:spPr>
          <a:xfrm>
            <a:off x="723750" y="145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số thuật ngữ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8" name="Google Shape;1898;p36"/>
          <p:cNvSpPr txBox="1"/>
          <p:nvPr>
            <p:ph idx="1" type="subTitle"/>
          </p:nvPr>
        </p:nvSpPr>
        <p:spPr>
          <a:xfrm>
            <a:off x="874300" y="871025"/>
            <a:ext cx="76131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Thay tên biến (rename)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				 〈n: nat· n+1〉 = 〈m: nat· m+1〉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899" name="Google Shape;1899;p36"/>
          <p:cNvSpPr txBox="1"/>
          <p:nvPr>
            <p:ph idx="2" type="subTitle"/>
          </p:nvPr>
        </p:nvSpPr>
        <p:spPr>
          <a:xfrm>
            <a:off x="874300" y="1324300"/>
            <a:ext cx="47925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Miền (Domain) và Kích thước (Size) của hàm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00" name="Google Shape;1900;p36"/>
          <p:cNvGraphicFramePr/>
          <p:nvPr/>
        </p:nvGraphicFramePr>
        <p:xfrm>
          <a:off x="957150" y="173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{4E1A2E98-1AE3-4537-B57D-EA580E01EC88}</a:tableStyleId>
              </a:tblPr>
              <a:tblGrid>
                <a:gridCol w="2317325"/>
                <a:gridCol w="2317325"/>
              </a:tblGrid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☐f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domain của 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#f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size của f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☐〈n: nat· n+1〉= nat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#〈n: nat· n+1〉 = ∞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1" name="Google Shape;1901;p36"/>
          <p:cNvSpPr txBox="1"/>
          <p:nvPr>
            <p:ph idx="3" type="subTitle"/>
          </p:nvPr>
        </p:nvSpPr>
        <p:spPr>
          <a:xfrm>
            <a:off x="874300" y="3458600"/>
            <a:ext cx="1486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Áp dụng</a:t>
            </a:r>
            <a:endParaRPr b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1902" name="Google Shape;1902;p36"/>
          <p:cNvGraphicFramePr/>
          <p:nvPr/>
        </p:nvGraphicFramePr>
        <p:xfrm>
          <a:off x="952500" y="394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{4E1A2E98-1AE3-4537-B57D-EA580E01EC88}</a:tableStyleId>
              </a:tblPr>
              <a:tblGrid>
                <a:gridCol w="684200"/>
                <a:gridCol w="4934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 x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“áp dụng hàm f vào x” hoặc “f của x”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f(x)               (f)x               f(x+1)               -x               ¬x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903" name="Google Shape;1903;p36"/>
          <p:cNvSpPr txBox="1"/>
          <p:nvPr/>
        </p:nvSpPr>
        <p:spPr>
          <a:xfrm>
            <a:off x="5803075" y="3487400"/>
            <a:ext cx="218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〈x: nat· x+1〉3 = 3+1 = 4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4" name="Google Shape;1904;p36"/>
          <p:cNvSpPr txBox="1"/>
          <p:nvPr/>
        </p:nvSpPr>
        <p:spPr>
          <a:xfrm>
            <a:off x="6037975" y="1913050"/>
            <a:ext cx="1718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 =〈x: nat· x+1〉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 =  3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5" name="Google Shape;1905;p36"/>
          <p:cNvSpPr/>
          <p:nvPr/>
        </p:nvSpPr>
        <p:spPr>
          <a:xfrm>
            <a:off x="6766050" y="2794425"/>
            <a:ext cx="143100" cy="4887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37"/>
          <p:cNvSpPr txBox="1"/>
          <p:nvPr>
            <p:ph idx="4294967295" type="title"/>
          </p:nvPr>
        </p:nvSpPr>
        <p:spPr>
          <a:xfrm>
            <a:off x="723750" y="145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số thuật ngữ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1" name="Google Shape;1911;p37"/>
          <p:cNvSpPr txBox="1"/>
          <p:nvPr/>
        </p:nvSpPr>
        <p:spPr>
          <a:xfrm>
            <a:off x="2840500" y="1102034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avg 		= 〈x: xrat · 〈y: xrat· (x+y)/2〉〉	= 	f(g(x,y))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2" name="Google Shape;1912;p37"/>
          <p:cNvSpPr txBox="1"/>
          <p:nvPr/>
        </p:nvSpPr>
        <p:spPr>
          <a:xfrm>
            <a:off x="2840500" y="144977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avg 3  	= 〈y: xrat· (x+y)/2〉	= 	g(3,y)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3" name="Google Shape;1913;p37"/>
          <p:cNvSpPr txBox="1"/>
          <p:nvPr/>
        </p:nvSpPr>
        <p:spPr>
          <a:xfrm>
            <a:off x="2840500" y="177890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avg 3  5 	=  	g(3,5)			= 	(3 + 5)/2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4" name="Google Shape;1914;p37"/>
          <p:cNvSpPr txBox="1"/>
          <p:nvPr>
            <p:ph idx="1" type="subTitle"/>
          </p:nvPr>
        </p:nvSpPr>
        <p:spPr>
          <a:xfrm>
            <a:off x="536850" y="1102975"/>
            <a:ext cx="2110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nhiều biến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5" name="Google Shape;1915;p37"/>
          <p:cNvSpPr txBox="1"/>
          <p:nvPr>
            <p:ph idx="2" type="subTitle"/>
          </p:nvPr>
        </p:nvSpPr>
        <p:spPr>
          <a:xfrm>
            <a:off x="536850" y="2443169"/>
            <a:ext cx="1831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Logic vị từ/bậc nhất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(predicate logic)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6" name="Google Shape;1916;p37"/>
          <p:cNvSpPr txBox="1"/>
          <p:nvPr/>
        </p:nvSpPr>
        <p:spPr>
          <a:xfrm>
            <a:off x="2840500" y="2436019"/>
            <a:ext cx="476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trả về giá trị nhị phân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7" name="Google Shape;1917;p37"/>
          <p:cNvSpPr txBox="1"/>
          <p:nvPr/>
        </p:nvSpPr>
        <p:spPr>
          <a:xfrm>
            <a:off x="2840500" y="2732503"/>
            <a:ext cx="476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so_chan =  〈i: int· i/2: int〉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8" name="Google Shape;1918;p37"/>
          <p:cNvSpPr txBox="1"/>
          <p:nvPr>
            <p:ph idx="3" type="subTitle"/>
          </p:nvPr>
        </p:nvSpPr>
        <p:spPr>
          <a:xfrm>
            <a:off x="536850" y="3523200"/>
            <a:ext cx="1831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quan hệ 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(relation)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9" name="Google Shape;1919;p37"/>
          <p:cNvSpPr txBox="1"/>
          <p:nvPr/>
        </p:nvSpPr>
        <p:spPr>
          <a:xfrm>
            <a:off x="2840500" y="3508895"/>
            <a:ext cx="476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trả về logic vị từ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0" name="Google Shape;1920;p37"/>
          <p:cNvSpPr txBox="1"/>
          <p:nvPr/>
        </p:nvSpPr>
        <p:spPr>
          <a:xfrm>
            <a:off x="2840500" y="3806555"/>
            <a:ext cx="476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chia 		=      〈n: nat+1· 〈i: int· i/n: int〉〉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so_chan 	=  	chia 2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38"/>
          <p:cNvSpPr txBox="1"/>
          <p:nvPr>
            <p:ph idx="4294967295" type="title"/>
          </p:nvPr>
        </p:nvSpPr>
        <p:spPr>
          <a:xfrm>
            <a:off x="723750" y="145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Một số thuật ngữ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6" name="Google Shape;1926;p38"/>
          <p:cNvSpPr txBox="1"/>
          <p:nvPr/>
        </p:nvSpPr>
        <p:spPr>
          <a:xfrm>
            <a:off x="2840500" y="1102034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| g 				“chỉ có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hoặc chỉ có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”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7" name="Google Shape;1927;p38"/>
          <p:cNvSpPr txBox="1"/>
          <p:nvPr/>
        </p:nvSpPr>
        <p:spPr>
          <a:xfrm>
            <a:off x="2840500" y="144977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☐(f | g) 	= 	☐f, ☐g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8" name="Google Shape;1928;p38"/>
          <p:cNvSpPr txBox="1"/>
          <p:nvPr/>
        </p:nvSpPr>
        <p:spPr>
          <a:xfrm>
            <a:off x="2840500" y="1778909"/>
            <a:ext cx="49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(f | g) x 	= 	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x: ☐f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f x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else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g x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fi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9" name="Google Shape;1929;p38"/>
          <p:cNvSpPr txBox="1"/>
          <p:nvPr>
            <p:ph idx="1" type="subTitle"/>
          </p:nvPr>
        </p:nvSpPr>
        <p:spPr>
          <a:xfrm>
            <a:off x="536850" y="1102975"/>
            <a:ext cx="2110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Phép loại trừ 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(exclusive or/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selective union)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30" name="Google Shape;1930;p38"/>
          <p:cNvSpPr txBox="1"/>
          <p:nvPr>
            <p:ph idx="2" type="subTitle"/>
          </p:nvPr>
        </p:nvSpPr>
        <p:spPr>
          <a:xfrm>
            <a:off x="536850" y="2307225"/>
            <a:ext cx="18318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Viết tắt của hàm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31" name="Google Shape;1931;p38"/>
          <p:cNvSpPr txBox="1"/>
          <p:nvPr/>
        </p:nvSpPr>
        <p:spPr>
          <a:xfrm>
            <a:off x="2678200" y="2300075"/>
            <a:ext cx="5936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〈x: xrat· 〈y: xrat· (x+y)/2〉〉 = 〈x, y: xrat· (x+y)/2〉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〈n: nat· n+1〉 = 〈n· n+1〉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〈n: 2· 3〉 = 2→3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32" name="Google Shape;1932;p38"/>
          <p:cNvSpPr txBox="1"/>
          <p:nvPr/>
        </p:nvSpPr>
        <p:spPr>
          <a:xfrm>
            <a:off x="6983200" y="2668800"/>
            <a:ext cx="154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x và y cùng domain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33" name="Google Shape;1933;p38"/>
          <p:cNvCxnSpPr>
            <a:stCxn id="1932" idx="1"/>
          </p:cNvCxnSpPr>
          <p:nvPr/>
        </p:nvCxnSpPr>
        <p:spPr>
          <a:xfrm rot="10800000">
            <a:off x="5938600" y="2654550"/>
            <a:ext cx="1044600" cy="2298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34" name="Google Shape;1934;p38"/>
          <p:cNvSpPr txBox="1"/>
          <p:nvPr/>
        </p:nvSpPr>
        <p:spPr>
          <a:xfrm>
            <a:off x="5895675" y="2956800"/>
            <a:ext cx="243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tên miền là mặc định 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hoặc không ảnh hưởng tới hàm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35" name="Google Shape;1935;p38"/>
          <p:cNvCxnSpPr>
            <a:stCxn id="1934" idx="1"/>
          </p:cNvCxnSpPr>
          <p:nvPr/>
        </p:nvCxnSpPr>
        <p:spPr>
          <a:xfrm flipH="1">
            <a:off x="4901175" y="3243150"/>
            <a:ext cx="994500" cy="51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36" name="Google Shape;1936;p38"/>
          <p:cNvSpPr txBox="1"/>
          <p:nvPr/>
        </p:nvSpPr>
        <p:spPr>
          <a:xfrm>
            <a:off x="5938600" y="3815725"/>
            <a:ext cx="25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hằng/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domain không ảnh hưởng tới hàm</a:t>
            </a:r>
            <a:endParaRPr>
              <a:solidFill>
                <a:srgbClr val="98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37" name="Google Shape;1937;p38"/>
          <p:cNvCxnSpPr/>
          <p:nvPr/>
        </p:nvCxnSpPr>
        <p:spPr>
          <a:xfrm rot="10800000">
            <a:off x="4300125" y="3999450"/>
            <a:ext cx="1620600" cy="1320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39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(Function)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3" name="Google Shape;1943;p39"/>
          <p:cNvSpPr txBox="1"/>
          <p:nvPr>
            <p:ph idx="1" type="subTitle"/>
          </p:nvPr>
        </p:nvSpPr>
        <p:spPr>
          <a:xfrm>
            <a:off x="874300" y="1099625"/>
            <a:ext cx="76131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〈v: D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·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b〉 “ánh xạ </a:t>
            </a:r>
            <a:r>
              <a:rPr i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trong miền </a:t>
            </a:r>
            <a:r>
              <a:rPr i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vào biểu thức </a:t>
            </a:r>
            <a:r>
              <a:rPr i="1"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”</a:t>
            </a:r>
            <a:endParaRPr i="1"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4" name="Google Shape;1944;p39"/>
          <p:cNvSpPr txBox="1"/>
          <p:nvPr>
            <p:ph idx="2" type="subTitle"/>
          </p:nvPr>
        </p:nvSpPr>
        <p:spPr>
          <a:xfrm>
            <a:off x="347800" y="2263625"/>
            <a:ext cx="1915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miền dữ liệu (domain): kiểu dữ liệu của biến v</a:t>
            </a:r>
            <a:endParaRPr i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5" name="Google Shape;1945;p39"/>
          <p:cNvSpPr txBox="1"/>
          <p:nvPr>
            <p:ph idx="3" type="subTitle"/>
          </p:nvPr>
        </p:nvSpPr>
        <p:spPr>
          <a:xfrm>
            <a:off x="3588750" y="1818950"/>
            <a:ext cx="186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biểu thức của hàm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có thể sử dụng biến v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i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6" name="Google Shape;1946;p39"/>
          <p:cNvSpPr txBox="1"/>
          <p:nvPr>
            <p:ph idx="4" type="subTitle"/>
          </p:nvPr>
        </p:nvSpPr>
        <p:spPr>
          <a:xfrm>
            <a:off x="250450" y="1592300"/>
            <a:ext cx="16215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tên biến (variable)</a:t>
            </a:r>
            <a:endParaRPr i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47" name="Google Shape;1947;p39"/>
          <p:cNvSpPr txBox="1"/>
          <p:nvPr>
            <p:ph idx="5" type="subTitle"/>
          </p:nvPr>
        </p:nvSpPr>
        <p:spPr>
          <a:xfrm>
            <a:off x="219250" y="3418100"/>
            <a:ext cx="3150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: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là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tiên đề cục bộ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cho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biểu thức b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i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948" name="Google Shape;1948;p39"/>
          <p:cNvCxnSpPr>
            <a:stCxn id="1946" idx="3"/>
          </p:cNvCxnSpPr>
          <p:nvPr/>
        </p:nvCxnSpPr>
        <p:spPr>
          <a:xfrm flipH="1" rot="10800000">
            <a:off x="1871950" y="1416650"/>
            <a:ext cx="7110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9" name="Google Shape;1949;p39"/>
          <p:cNvCxnSpPr>
            <a:stCxn id="1944" idx="3"/>
          </p:cNvCxnSpPr>
          <p:nvPr/>
        </p:nvCxnSpPr>
        <p:spPr>
          <a:xfrm flipH="1" rot="10800000">
            <a:off x="2263300" y="1416725"/>
            <a:ext cx="584400" cy="120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39"/>
          <p:cNvCxnSpPr>
            <a:stCxn id="1945" idx="1"/>
          </p:cNvCxnSpPr>
          <p:nvPr/>
        </p:nvCxnSpPr>
        <p:spPr>
          <a:xfrm rot="10800000">
            <a:off x="3141150" y="1409600"/>
            <a:ext cx="447600" cy="69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1" name="Google Shape;1951;p39"/>
          <p:cNvSpPr txBox="1"/>
          <p:nvPr>
            <p:ph idx="6" type="subTitle"/>
          </p:nvPr>
        </p:nvSpPr>
        <p:spPr>
          <a:xfrm>
            <a:off x="5917100" y="2466125"/>
            <a:ext cx="15885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</a:t>
            </a:r>
            <a:r>
              <a:rPr i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n: nat · n+1〉</a:t>
            </a:r>
            <a:endParaRPr i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2" name="Google Shape;1952;p39"/>
          <p:cNvSpPr txBox="1"/>
          <p:nvPr/>
        </p:nvSpPr>
        <p:spPr>
          <a:xfrm>
            <a:off x="5917100" y="2919425"/>
            <a:ext cx="37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1953" name="Google Shape;1953;p39"/>
          <p:cNvSpPr txBox="1"/>
          <p:nvPr/>
        </p:nvSpPr>
        <p:spPr>
          <a:xfrm>
            <a:off x="7228625" y="2919425"/>
            <a:ext cx="37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cxnSp>
        <p:nvCxnSpPr>
          <p:cNvPr id="1954" name="Google Shape;1954;p39"/>
          <p:cNvCxnSpPr/>
          <p:nvPr/>
        </p:nvCxnSpPr>
        <p:spPr>
          <a:xfrm>
            <a:off x="6231950" y="3124550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5" name="Google Shape;1955;p39"/>
          <p:cNvCxnSpPr/>
          <p:nvPr/>
        </p:nvCxnSpPr>
        <p:spPr>
          <a:xfrm>
            <a:off x="6231950" y="3455825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6" name="Google Shape;1956;p39"/>
          <p:cNvCxnSpPr/>
          <p:nvPr/>
        </p:nvCxnSpPr>
        <p:spPr>
          <a:xfrm>
            <a:off x="6231950" y="3787100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7" name="Google Shape;1957;p39"/>
          <p:cNvCxnSpPr/>
          <p:nvPr/>
        </p:nvCxnSpPr>
        <p:spPr>
          <a:xfrm>
            <a:off x="6231950" y="4118375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40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Hàm: Phân loại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63" name="Google Shape;1963;p40"/>
          <p:cNvSpPr txBox="1"/>
          <p:nvPr/>
        </p:nvSpPr>
        <p:spPr>
          <a:xfrm>
            <a:off x="1767213" y="3014550"/>
            <a:ext cx="37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1964" name="Google Shape;1964;p40"/>
          <p:cNvSpPr txBox="1"/>
          <p:nvPr/>
        </p:nvSpPr>
        <p:spPr>
          <a:xfrm>
            <a:off x="3078738" y="3014550"/>
            <a:ext cx="379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cxnSp>
        <p:nvCxnSpPr>
          <p:cNvPr id="1965" name="Google Shape;1965;p40"/>
          <p:cNvCxnSpPr/>
          <p:nvPr/>
        </p:nvCxnSpPr>
        <p:spPr>
          <a:xfrm>
            <a:off x="2082063" y="3219675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6" name="Google Shape;1966;p40"/>
          <p:cNvCxnSpPr/>
          <p:nvPr/>
        </p:nvCxnSpPr>
        <p:spPr>
          <a:xfrm>
            <a:off x="2082063" y="3550950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7" name="Google Shape;1967;p40"/>
          <p:cNvCxnSpPr/>
          <p:nvPr/>
        </p:nvCxnSpPr>
        <p:spPr>
          <a:xfrm>
            <a:off x="2082063" y="3882225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8" name="Google Shape;1968;p40"/>
          <p:cNvCxnSpPr/>
          <p:nvPr/>
        </p:nvCxnSpPr>
        <p:spPr>
          <a:xfrm>
            <a:off x="2082063" y="4213500"/>
            <a:ext cx="10803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69" name="Google Shape;1969;p40"/>
          <p:cNvGraphicFramePr/>
          <p:nvPr/>
        </p:nvGraphicFramePr>
        <p:xfrm>
          <a:off x="1009575" y="85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{4E1A2E98-1AE3-4537-B57D-EA580E01EC88}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partial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Có thể vô ngh</a:t>
                      </a:r>
                      <a:r>
                        <a:rPr lang="en"/>
                        <a:t>iệm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Có </a:t>
                      </a:r>
                      <a:r>
                        <a:rPr lang="en"/>
                        <a:t>ít nhất một nghiệm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deterministic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Có nh</a:t>
                      </a:r>
                      <a:r>
                        <a:rPr lang="en"/>
                        <a:t>iều nhất một nghiệm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nondeterministic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Có nh</a:t>
                      </a:r>
                      <a:r>
                        <a:rPr lang="en"/>
                        <a:t>iều hơn một nghiệm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〈n: nat· n, n+1〉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và nondeterministic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970" name="Google Shape;1970;p40"/>
          <p:cNvCxnSpPr/>
          <p:nvPr/>
        </p:nvCxnSpPr>
        <p:spPr>
          <a:xfrm flipH="1" rot="10800000">
            <a:off x="2074813" y="3219675"/>
            <a:ext cx="1075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1" name="Google Shape;1971;p40"/>
          <p:cNvCxnSpPr/>
          <p:nvPr/>
        </p:nvCxnSpPr>
        <p:spPr>
          <a:xfrm flipH="1" rot="10800000">
            <a:off x="2074813" y="3550950"/>
            <a:ext cx="1075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2" name="Google Shape;1972;p40"/>
          <p:cNvCxnSpPr/>
          <p:nvPr/>
        </p:nvCxnSpPr>
        <p:spPr>
          <a:xfrm flipH="1" rot="10800000">
            <a:off x="2074813" y="3882225"/>
            <a:ext cx="1075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3" name="Google Shape;1973;p40"/>
          <p:cNvCxnSpPr/>
          <p:nvPr/>
        </p:nvCxnSpPr>
        <p:spPr>
          <a:xfrm flipH="1" rot="10800000">
            <a:off x="2084463" y="4213500"/>
            <a:ext cx="1075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4" name="Google Shape;1974;p40"/>
          <p:cNvSpPr txBox="1"/>
          <p:nvPr/>
        </p:nvSpPr>
        <p:spPr>
          <a:xfrm>
            <a:off x="4629075" y="3684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〈</a:t>
            </a:r>
            <a:r>
              <a:rPr lang="en"/>
              <a:t>n: nat· n, n+1〉3 = 3, 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41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Phân phối (distribution)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0" name="Google Shape;1980;p41"/>
          <p:cNvSpPr txBox="1"/>
          <p:nvPr/>
        </p:nvSpPr>
        <p:spPr>
          <a:xfrm>
            <a:off x="1464825" y="995575"/>
            <a:ext cx="7356000" cy="38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(f, g) x = f x, g x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(x, y) = f x, f y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double = 〈n: nat· n+n〉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double 2 = 4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double (2, 3) = double 2, double 3 = 4, 6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double (2, 3) ⧧ (2, 3) + (2, 3) = 4, 5, 6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tiny = 〈S: nat· |S| &lt; 3〉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tiny {null} = ⊤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tiny {0, 1, 2, 3} = ⊥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tiny null = null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42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 Inclusion (Bao hàm Hàm số)</a:t>
            </a:r>
            <a:endParaRPr b="1"/>
          </a:p>
        </p:txBody>
      </p:sp>
      <p:sp>
        <p:nvSpPr>
          <p:cNvPr id="1986" name="Google Shape;1986;p42"/>
          <p:cNvSpPr txBox="1"/>
          <p:nvPr/>
        </p:nvSpPr>
        <p:spPr>
          <a:xfrm>
            <a:off x="618300" y="1553825"/>
            <a:ext cx="79074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Inclusion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mô tả mối quan hệ giữa một hàm thực thi cụ thể (f) và một đặc tả/yêu cầu (g)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iểu đơn giản: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 (Spec): bản yêu cầu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○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Ví dụ: "Tôi cần hàm xử lý được số nguyên dương"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(Implementation): công cụ thực tế 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○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Ví dụ: "Hàm này xử lý được cả số nguyên dương và số thực"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Semi Condensed"/>
              <a:buChar char="●"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 f:g, nghĩa là f đáp ứng hoặc vượt quá yêu cầu của g.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43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Điều kiện để thỏa mãn Inclusion</a:t>
            </a:r>
            <a:endParaRPr b="1"/>
          </a:p>
        </p:txBody>
      </p:sp>
      <p:sp>
        <p:nvSpPr>
          <p:cNvPr id="1992" name="Google Shape;1992;p43"/>
          <p:cNvSpPr txBox="1"/>
          <p:nvPr/>
        </p:nvSpPr>
        <p:spPr>
          <a:xfrm>
            <a:off x="618300" y="1553825"/>
            <a:ext cx="79074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Để f được bao hàm trong g (f:g), cần thỏa mãn 2 điều kiện:</a:t>
            </a:r>
            <a:endParaRPr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Barlow Semi Condensed"/>
              <a:buAutoNum type="arabicPeriod"/>
            </a:pPr>
            <a:r>
              <a:rPr b="1"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Về Đầu vào (Domain - Miền xác định):</a:t>
            </a:r>
            <a:endParaRPr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Miền xác định của f phải </a:t>
            </a:r>
            <a:r>
              <a:rPr b="1"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lớn hơn hoặc bằng</a:t>
            </a: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miền xác định của g.</a:t>
            </a:r>
            <a:endParaRPr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Barlow Semi Condensed"/>
              <a:buChar char="○"/>
            </a:pP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Hàm thực thi phải chấp nhận được mọi đầu vào mà Spec đề ra (và có thể chấp nhận thêm các đầu vào khác).</a:t>
            </a:r>
            <a:endParaRPr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Barlow Semi Condensed"/>
              <a:buAutoNum type="arabicPeriod"/>
            </a:pPr>
            <a:r>
              <a:rPr b="1"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Về Đầu ra (Result - Kết quả):</a:t>
            </a:r>
            <a:endParaRPr b="1"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Với mọi đầu vào hợp lệ, kết quả của f phải </a:t>
            </a:r>
            <a:r>
              <a:rPr b="1"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nằm trong</a:t>
            </a: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tập kết quả cho phép của g.</a:t>
            </a:r>
            <a:endParaRPr sz="15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Font typeface="Barlow Semi Condensed"/>
              <a:buChar char="○"/>
            </a:pPr>
            <a:r>
              <a:rPr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Kết quả trả về phải tuân thủ đúng phạm vi đã cam kết.</a:t>
            </a:r>
            <a:endParaRPr b="1" sz="20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4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Ví dụ với không gian hàm A → B</a:t>
            </a:r>
            <a:endParaRPr/>
          </a:p>
        </p:txBody>
      </p:sp>
      <p:sp>
        <p:nvSpPr>
          <p:cNvPr id="1998" name="Google Shape;1998;p44"/>
          <p:cNvSpPr txBox="1"/>
          <p:nvPr/>
        </p:nvSpPr>
        <p:spPr>
          <a:xfrm>
            <a:off x="618300" y="1553825"/>
            <a:ext cx="79074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Xét ký hiệu A → B (tập hợp các hàm đi từ A đến B)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Bài toán: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Kiểm tra hàm suc (số kế tiếp, n+1) có thuộc kiểu nat → nat không?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Đầu vào: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Yêu cầu là nat (số tự nhiên). Hàm suc nhận mọi số tự nhiên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Thỏa mãn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(Domain bằng nhau)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Đầu ra: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Yêu cầu trả về nat. Với mọi n, suc(n) = n+1 vẫn là số tự nhiên 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Thỏa mãn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(Kết quả nằm trong nat)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Kết luận: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suc : nat → nat.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Ví dụ: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○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Yêu cầu tuyển dụng: "Biết tiếng Anh".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○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Ứng viên: "Biết tiếng Anh và tiếng Nhật".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Ứng viên này </a:t>
            </a: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được bao hàm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(thỏa mãn) yêu cầu tuyển dụng (Domain rộng hơn).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45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Composition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4" name="Google Shape;2004;p45"/>
          <p:cNvSpPr txBox="1"/>
          <p:nvPr/>
        </p:nvSpPr>
        <p:spPr>
          <a:xfrm>
            <a:off x="618300" y="887650"/>
            <a:ext cx="34908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If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¬ f: ☐g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then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☐(g f) = §x: ☐f· f x: ☐g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(g f) x = g (f x)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☐(even suc)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§x: ☐suc· suc x: ☐even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§x: nat· x+1: int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nat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(even suc) 3 = even (suc 3) = even 4 = ⊤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(–suc) 3 = –(suc 3) = –4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(¬even) 3 = ¬(even 3) = ¬⊥ = ⊤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05" name="Google Shape;2005;p45"/>
          <p:cNvSpPr txBox="1"/>
          <p:nvPr/>
        </p:nvSpPr>
        <p:spPr>
          <a:xfrm>
            <a:off x="4378825" y="887650"/>
            <a:ext cx="34908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Giả sử x, y: int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f, g: int→int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h: int→int→int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thì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 f x g y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(((h f) x) g) y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((h (f x)) g) y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(h (f x)) (g y)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 h (f x) (g y)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46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1" name="Google Shape;2011;p46"/>
          <p:cNvSpPr txBox="1"/>
          <p:nvPr/>
        </p:nvSpPr>
        <p:spPr>
          <a:xfrm>
            <a:off x="618300" y="887650"/>
            <a:ext cx="34908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List as function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Nếu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m: ☐L </a:t>
            </a: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thì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〈n: ☐L· L n〉 m = L m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function ≈ list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application ≈ indexing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function composition ≈ list composition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– [3; 5; 2] = [–3; –5; –2]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suc [3; 5; 2] = [4; 6; 3]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1→21 | [10; 11; 12] = [10; 21; 12]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ΣL = Σ〈n: ☐L· L n〉 = Σn: ☐L· L 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2" name="Google Shape;2012;p46"/>
          <p:cNvSpPr txBox="1"/>
          <p:nvPr/>
        </p:nvSpPr>
        <p:spPr>
          <a:xfrm>
            <a:off x="4378825" y="887650"/>
            <a:ext cx="40677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Function equality</a:t>
            </a:r>
            <a:endParaRPr b="1"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= g 		</a:t>
            </a:r>
            <a:r>
              <a:rPr lang="en" sz="2300">
                <a:latin typeface="Barlow Semi Condensed"/>
                <a:ea typeface="Barlow Semi Condensed"/>
                <a:cs typeface="Barlow Semi Condensed"/>
                <a:sym typeface="Barlow Semi Condensed"/>
              </a:rPr>
              <a:t>=	</a:t>
            </a: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☐f = ☐g ∧ ∀x: ☐f· f x = g x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47"/>
          <p:cNvSpPr txBox="1"/>
          <p:nvPr>
            <p:ph type="title"/>
          </p:nvPr>
        </p:nvSpPr>
        <p:spPr>
          <a:xfrm>
            <a:off x="723750" y="19507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Limit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8" name="Google Shape;2018;p47"/>
          <p:cNvSpPr txBox="1"/>
          <p:nvPr/>
        </p:nvSpPr>
        <p:spPr>
          <a:xfrm>
            <a:off x="618300" y="887650"/>
            <a:ext cx="34908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f: nat→rat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f 0; f 1; f 2; ... là chuỗi các số hữu tỉ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(⇑m· ⇓n· f(m+n)) ≤ ⇕f ≤ (⇓m· ⇑n· f(m+n))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 0 ≤ (⇕n· 1/(n+1)) ≤ 0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–1 ≤ (⇕n· (–1)n ) ≤ 1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⇓f ≤ ⇕f ≤ ⇑f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x: xreal = ∃f: nat→rat· x = ⇕f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19" name="Google Shape;2019;p47"/>
          <p:cNvSpPr txBox="1"/>
          <p:nvPr/>
        </p:nvSpPr>
        <p:spPr>
          <a:xfrm>
            <a:off x="4378825" y="887650"/>
            <a:ext cx="40677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p: nat→bin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 0; p 1; p 2; ... là chuỗi các giá trị nhị phân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∃m· ∀n· p(m+n) ⇒ ⇕p ⇒ ∀m· ∃n· p(m+n)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∃m· ∀i· i≥m ⇒ p i ⇒ ⇕p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∃m· ∀i· i≥m ⇒ ¬ p i ⇒ ¬ ⇕p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Barlow Semi Condensed"/>
                <a:ea typeface="Barlow Semi Condensed"/>
                <a:cs typeface="Barlow Semi Condensed"/>
                <a:sym typeface="Barlow Semi Condensed"/>
              </a:rPr>
              <a:t>⇕n· 1/(n+1) = 0 = ⊥</a:t>
            </a:r>
            <a:endParaRPr sz="16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48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Bài tập về nhà 2</a:t>
            </a:r>
            <a:endParaRPr/>
          </a:p>
        </p:txBody>
      </p:sp>
      <p:sp>
        <p:nvSpPr>
          <p:cNvPr id="2025" name="Google Shape;2025;p48"/>
          <p:cNvSpPr txBox="1"/>
          <p:nvPr/>
        </p:nvSpPr>
        <p:spPr>
          <a:xfrm>
            <a:off x="723750" y="1569950"/>
            <a:ext cx="75447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Barlow Semi Condensed"/>
              <a:buChar char="●"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Có 5 triết gia ngồi quanh một bàn tròn. Trước mặt mỗi triết gia có 1 cái đĩa mì spaghetti, và giữa mỗi cặp triết gia có 1 chiếc nĩa (fork)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Font typeface="Barlow Semi Condensed"/>
              <a:buChar char="●"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Để ăn mì (eat), một triết gia cần cả 2 chiếc nĩa bên trái và bên phải của mình. Sau khi ăn xong, triết gia sẽ đặt lại nĩa và tiếp tục suy ngẫm (think)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Sử dụng công cụ được assigned để giải bài toán trên, sao cho không triết gia nào bị chết đói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49"/>
          <p:cNvSpPr txBox="1"/>
          <p:nvPr>
            <p:ph type="title"/>
          </p:nvPr>
        </p:nvSpPr>
        <p:spPr>
          <a:xfrm>
            <a:off x="2243200" y="1688000"/>
            <a:ext cx="51057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Question?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
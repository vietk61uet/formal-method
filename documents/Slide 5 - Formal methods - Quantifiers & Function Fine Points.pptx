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A52AAD-CB1E-4C60-80C1-E01725EF7B7E}">
  <a:tblStyle styleId="{F1A52AAD-CB1E-4C60-80C1-E01725EF7B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26f47ef87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26f47ef87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26f47ef87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26f47ef87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6f47ef87c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6f47ef87c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2c43760e23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2c43760e23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26f26c75bb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26f26c75bb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6f26c75bb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6f26c75bb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26f26c75bb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26f26c75bb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c43760e23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c43760e23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26f26c75bb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26f26c75b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26f26c75bb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26f26c75bb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26f26c75bb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26f26c75bb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26f26c75bb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26f26c75bb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6f26c75bb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6f26c75bb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26f26c75bb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26f26c75bb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6f26c75bb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6f26c75bb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6f26c75bb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6f26c75bb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6f26c75bb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6f26c75bb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2b3d61adcc9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2" name="Google Shape;2022;g2b3d61adcc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obj">
  <p:cSld name="OBJECT"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4" name="Google Shape;1684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5" name="Google Shape;1685;p33"/>
          <p:cNvSpPr txBox="1"/>
          <p:nvPr>
            <p:ph idx="12" type="sldNum"/>
          </p:nvPr>
        </p:nvSpPr>
        <p:spPr>
          <a:xfrm>
            <a:off x="8021807" y="4873805"/>
            <a:ext cx="34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/81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4"/>
          <p:cNvGrpSpPr/>
          <p:nvPr/>
        </p:nvGrpSpPr>
        <p:grpSpPr>
          <a:xfrm>
            <a:off x="-114459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4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4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4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4"/>
          <p:cNvSpPr txBox="1"/>
          <p:nvPr>
            <p:ph type="ctrTitle"/>
          </p:nvPr>
        </p:nvSpPr>
        <p:spPr>
          <a:xfrm>
            <a:off x="3622800" y="1468575"/>
            <a:ext cx="5521200" cy="14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Các phương pháp hình thức </a:t>
            </a:r>
            <a:endParaRPr sz="3900"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(Formal Methods)</a:t>
            </a:r>
            <a:endParaRPr sz="3900">
              <a:solidFill>
                <a:schemeClr val="dk2"/>
              </a:solidFill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</p:txBody>
      </p:sp>
      <p:sp>
        <p:nvSpPr>
          <p:cNvPr id="1885" name="Google Shape;1885;p34"/>
          <p:cNvSpPr txBox="1"/>
          <p:nvPr>
            <p:ph idx="1" type="subTitle"/>
          </p:nvPr>
        </p:nvSpPr>
        <p:spPr>
          <a:xfrm>
            <a:off x="4751256" y="3857533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TS. Lê Khánh Trình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  <p:sp>
        <p:nvSpPr>
          <p:cNvPr id="1886" name="Google Shape;1886;p34"/>
          <p:cNvSpPr txBox="1"/>
          <p:nvPr>
            <p:ph type="ctrTitle"/>
          </p:nvPr>
        </p:nvSpPr>
        <p:spPr>
          <a:xfrm>
            <a:off x="4059375" y="2881750"/>
            <a:ext cx="4904400" cy="6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Quantifiers &amp; Specification</a:t>
            </a:r>
            <a:endParaRPr sz="24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35"/>
          <p:cNvSpPr txBox="1"/>
          <p:nvPr>
            <p:ph idx="4294967295" type="title"/>
          </p:nvPr>
        </p:nvSpPr>
        <p:spPr>
          <a:xfrm>
            <a:off x="723750" y="145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số thuật ngữ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2" name="Google Shape;1892;p35"/>
          <p:cNvSpPr txBox="1"/>
          <p:nvPr>
            <p:ph idx="1" type="subTitle"/>
          </p:nvPr>
        </p:nvSpPr>
        <p:spPr>
          <a:xfrm>
            <a:off x="874300" y="871025"/>
            <a:ext cx="76131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Thay tên biến (rename)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				 〈n: nat· n+1〉 = 〈m: nat· m+1〉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3" name="Google Shape;1893;p35"/>
          <p:cNvSpPr txBox="1"/>
          <p:nvPr>
            <p:ph idx="2" type="subTitle"/>
          </p:nvPr>
        </p:nvSpPr>
        <p:spPr>
          <a:xfrm>
            <a:off x="874300" y="1324300"/>
            <a:ext cx="47925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Miền (Domain) và Kích thước (Size) của hàm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894" name="Google Shape;1894;p35"/>
          <p:cNvGraphicFramePr/>
          <p:nvPr/>
        </p:nvGraphicFramePr>
        <p:xfrm>
          <a:off x="957150" y="173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{F1A52AAD-CB1E-4C60-80C1-E01725EF7B7E}</a:tableStyleId>
              </a:tblPr>
              <a:tblGrid>
                <a:gridCol w="2317325"/>
                <a:gridCol w="2317325"/>
              </a:tblGrid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☐f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domain của 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#f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size của 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☐〈n: nat· n+1〉= nat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#〈n: nat· n+1〉 = ∞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95" name="Google Shape;1895;p35"/>
          <p:cNvSpPr txBox="1"/>
          <p:nvPr>
            <p:ph idx="3" type="subTitle"/>
          </p:nvPr>
        </p:nvSpPr>
        <p:spPr>
          <a:xfrm>
            <a:off x="874300" y="3458600"/>
            <a:ext cx="1486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Áp dụng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896" name="Google Shape;1896;p35"/>
          <p:cNvGraphicFramePr/>
          <p:nvPr/>
        </p:nvGraphicFramePr>
        <p:xfrm>
          <a:off x="952500" y="394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{F1A52AAD-CB1E-4C60-80C1-E01725EF7B7E}</a:tableStyleId>
              </a:tblPr>
              <a:tblGrid>
                <a:gridCol w="684200"/>
                <a:gridCol w="493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 x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“áp dụng hàm f vào x” hoặc “f của x”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f(x)               (f)x               f(x+1)               -x               ¬x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</a:tr>
            </a:tbl>
          </a:graphicData>
        </a:graphic>
      </p:graphicFrame>
      <p:sp>
        <p:nvSpPr>
          <p:cNvPr id="1897" name="Google Shape;1897;p35"/>
          <p:cNvSpPr txBox="1"/>
          <p:nvPr/>
        </p:nvSpPr>
        <p:spPr>
          <a:xfrm>
            <a:off x="5803075" y="3487400"/>
            <a:ext cx="218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〈x: nat· x+1〉3 = 3+1 = 4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8" name="Google Shape;1898;p35"/>
          <p:cNvSpPr txBox="1"/>
          <p:nvPr/>
        </p:nvSpPr>
        <p:spPr>
          <a:xfrm>
            <a:off x="6037975" y="1913050"/>
            <a:ext cx="1718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 =〈x: nat· x+1〉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 =  3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9" name="Google Shape;1899;p35"/>
          <p:cNvSpPr/>
          <p:nvPr/>
        </p:nvSpPr>
        <p:spPr>
          <a:xfrm>
            <a:off x="6766050" y="2794425"/>
            <a:ext cx="143100" cy="488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36"/>
          <p:cNvSpPr txBox="1"/>
          <p:nvPr>
            <p:ph idx="4294967295" type="title"/>
          </p:nvPr>
        </p:nvSpPr>
        <p:spPr>
          <a:xfrm>
            <a:off x="723750" y="145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số thuật ngữ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5" name="Google Shape;1905;p36"/>
          <p:cNvSpPr txBox="1"/>
          <p:nvPr/>
        </p:nvSpPr>
        <p:spPr>
          <a:xfrm>
            <a:off x="2840500" y="1102034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avg 		= 〈x: xrat · 〈y: xrat· (x+y)/2〉〉	= 	f(g(x,y))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6" name="Google Shape;1906;p36"/>
          <p:cNvSpPr txBox="1"/>
          <p:nvPr/>
        </p:nvSpPr>
        <p:spPr>
          <a:xfrm>
            <a:off x="2840500" y="144977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avg 3  	= 〈y: xrat· (x+y)/2〉	= 	g(3,y)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7" name="Google Shape;1907;p36"/>
          <p:cNvSpPr txBox="1"/>
          <p:nvPr/>
        </p:nvSpPr>
        <p:spPr>
          <a:xfrm>
            <a:off x="2840500" y="177890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avg 3  5 	=  	g(3,5)			= 	(3 + 5)/2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8" name="Google Shape;1908;p36"/>
          <p:cNvSpPr txBox="1"/>
          <p:nvPr>
            <p:ph idx="1" type="subTitle"/>
          </p:nvPr>
        </p:nvSpPr>
        <p:spPr>
          <a:xfrm>
            <a:off x="536850" y="1102975"/>
            <a:ext cx="2110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nhiều biến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9" name="Google Shape;1909;p36"/>
          <p:cNvSpPr txBox="1"/>
          <p:nvPr>
            <p:ph idx="2" type="subTitle"/>
          </p:nvPr>
        </p:nvSpPr>
        <p:spPr>
          <a:xfrm>
            <a:off x="536850" y="2443169"/>
            <a:ext cx="1831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Logic vị từ/bậc nhất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(predicate logic)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0" name="Google Shape;1910;p36"/>
          <p:cNvSpPr txBox="1"/>
          <p:nvPr/>
        </p:nvSpPr>
        <p:spPr>
          <a:xfrm>
            <a:off x="2840500" y="2436019"/>
            <a:ext cx="476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trả về giá trị nhị phân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1" name="Google Shape;1911;p36"/>
          <p:cNvSpPr txBox="1"/>
          <p:nvPr/>
        </p:nvSpPr>
        <p:spPr>
          <a:xfrm>
            <a:off x="2840500" y="2732503"/>
            <a:ext cx="476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so_chan =  〈i: int· i/2: int〉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2" name="Google Shape;1912;p36"/>
          <p:cNvSpPr txBox="1"/>
          <p:nvPr>
            <p:ph idx="3" type="subTitle"/>
          </p:nvPr>
        </p:nvSpPr>
        <p:spPr>
          <a:xfrm>
            <a:off x="536850" y="3523200"/>
            <a:ext cx="1831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quan hệ 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(relation)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3" name="Google Shape;1913;p36"/>
          <p:cNvSpPr txBox="1"/>
          <p:nvPr/>
        </p:nvSpPr>
        <p:spPr>
          <a:xfrm>
            <a:off x="2840500" y="3508895"/>
            <a:ext cx="476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trả về logic vị từ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4" name="Google Shape;1914;p36"/>
          <p:cNvSpPr txBox="1"/>
          <p:nvPr/>
        </p:nvSpPr>
        <p:spPr>
          <a:xfrm>
            <a:off x="2840500" y="3806555"/>
            <a:ext cx="476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chia 		=      〈n: nat+1· 〈i: int· i/n: int〉〉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so_chan 	=  	chia 2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37"/>
          <p:cNvSpPr txBox="1"/>
          <p:nvPr>
            <p:ph idx="4294967295" type="title"/>
          </p:nvPr>
        </p:nvSpPr>
        <p:spPr>
          <a:xfrm>
            <a:off x="723750" y="145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số thuật ngữ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0" name="Google Shape;1920;p37"/>
          <p:cNvSpPr txBox="1"/>
          <p:nvPr/>
        </p:nvSpPr>
        <p:spPr>
          <a:xfrm>
            <a:off x="2840500" y="1102034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| g 				“chỉ có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hoặc chỉ có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”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1" name="Google Shape;1921;p37"/>
          <p:cNvSpPr txBox="1"/>
          <p:nvPr/>
        </p:nvSpPr>
        <p:spPr>
          <a:xfrm>
            <a:off x="2840500" y="144977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☐(f | g) 	= 	☐f, ☐g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2" name="Google Shape;1922;p37"/>
          <p:cNvSpPr txBox="1"/>
          <p:nvPr/>
        </p:nvSpPr>
        <p:spPr>
          <a:xfrm>
            <a:off x="2840500" y="177890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(f | g) x 	= 	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 ☐f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f x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g x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3" name="Google Shape;1923;p37"/>
          <p:cNvSpPr txBox="1"/>
          <p:nvPr>
            <p:ph idx="1" type="subTitle"/>
          </p:nvPr>
        </p:nvSpPr>
        <p:spPr>
          <a:xfrm>
            <a:off x="536850" y="1102975"/>
            <a:ext cx="2110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Phép loại trừ 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(exclusive or/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selective union)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4" name="Google Shape;1924;p37"/>
          <p:cNvSpPr txBox="1"/>
          <p:nvPr>
            <p:ph idx="2" type="subTitle"/>
          </p:nvPr>
        </p:nvSpPr>
        <p:spPr>
          <a:xfrm>
            <a:off x="536850" y="2307225"/>
            <a:ext cx="1831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Viết tắt của hàm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5" name="Google Shape;1925;p37"/>
          <p:cNvSpPr txBox="1"/>
          <p:nvPr/>
        </p:nvSpPr>
        <p:spPr>
          <a:xfrm>
            <a:off x="2678200" y="2300075"/>
            <a:ext cx="5936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〈x: xrat· 〈y: xrat· (x+y)/2〉〉 = 〈x, y: xrat· (x+y)/2〉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〈n: nat· n+1〉 = 〈n· n+1〉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〈n: 2· 3〉 = 2→3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6" name="Google Shape;1926;p37"/>
          <p:cNvSpPr txBox="1"/>
          <p:nvPr/>
        </p:nvSpPr>
        <p:spPr>
          <a:xfrm>
            <a:off x="6983200" y="2668800"/>
            <a:ext cx="154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x và y cùng domain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27" name="Google Shape;1927;p37"/>
          <p:cNvCxnSpPr>
            <a:stCxn id="1926" idx="1"/>
          </p:cNvCxnSpPr>
          <p:nvPr/>
        </p:nvCxnSpPr>
        <p:spPr>
          <a:xfrm rot="10800000">
            <a:off x="5938600" y="2654550"/>
            <a:ext cx="1044600" cy="2298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8" name="Google Shape;1928;p37"/>
          <p:cNvSpPr txBox="1"/>
          <p:nvPr/>
        </p:nvSpPr>
        <p:spPr>
          <a:xfrm>
            <a:off x="5895675" y="2956800"/>
            <a:ext cx="243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tên miền là mặc định 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hoặc không ảnh hưởng tới hàm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29" name="Google Shape;1929;p37"/>
          <p:cNvCxnSpPr>
            <a:stCxn id="1928" idx="1"/>
          </p:cNvCxnSpPr>
          <p:nvPr/>
        </p:nvCxnSpPr>
        <p:spPr>
          <a:xfrm flipH="1">
            <a:off x="4901175" y="3243150"/>
            <a:ext cx="994500" cy="51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30" name="Google Shape;1930;p37"/>
          <p:cNvSpPr txBox="1"/>
          <p:nvPr/>
        </p:nvSpPr>
        <p:spPr>
          <a:xfrm>
            <a:off x="5938600" y="3815725"/>
            <a:ext cx="25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hằng/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domain không ảnh hưởng tới hàm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31" name="Google Shape;1931;p37"/>
          <p:cNvCxnSpPr/>
          <p:nvPr/>
        </p:nvCxnSpPr>
        <p:spPr>
          <a:xfrm rot="10800000">
            <a:off x="4300125" y="3999450"/>
            <a:ext cx="1620600" cy="1320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38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Quantifiers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37" name="Google Shape;1937;p38"/>
          <p:cNvSpPr txBox="1"/>
          <p:nvPr>
            <p:ph idx="1" type="subTitle"/>
          </p:nvPr>
        </p:nvSpPr>
        <p:spPr>
          <a:xfrm>
            <a:off x="874300" y="1099625"/>
            <a:ext cx="7613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Là toán tử áp dụng cho một hàm (function)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38" name="Google Shape;1938;p38"/>
          <p:cNvGraphicFramePr/>
          <p:nvPr/>
        </p:nvGraphicFramePr>
        <p:xfrm>
          <a:off x="876272" y="184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{F1A52AAD-CB1E-4C60-80C1-E01725EF7B7E}</a:tableStyleId>
              </a:tblPr>
              <a:tblGrid>
                <a:gridCol w="1985025"/>
                <a:gridCol w="1452600"/>
                <a:gridCol w="2697425"/>
                <a:gridCol w="87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∀p  được đ/n từ ∧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“Với mọi”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∀〈r: rat· r≥0〉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⊥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∃p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 được đ/n từ 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∨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“Tồn tại”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∃〈n: nat· n=0〉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⊤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Σf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 được đ/n từ 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+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“Tổng của”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Σ〈n: nat+1· 1/2</a:t>
                      </a:r>
                      <a:r>
                        <a:rPr baseline="30000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〉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1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Πf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được đ/n từ 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×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“Tích của”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Π〈n: nat+1· (4×n</a:t>
                      </a:r>
                      <a:r>
                        <a:rPr baseline="30000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)/(4×n</a:t>
                      </a:r>
                      <a:r>
                        <a:rPr baseline="30000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– 1)〉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pi/2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⇑f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được đ/n từ 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↑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“GTLN của”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⇑〈x: rat· x×(4–x)〉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4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⇓f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được đ/n từ 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↓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“GTNN của”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⇓〈n: nat+1· 1/n〉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0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39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Quantifiers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4" name="Google Shape;1944;p39"/>
          <p:cNvSpPr txBox="1"/>
          <p:nvPr>
            <p:ph idx="1" type="subTitle"/>
          </p:nvPr>
        </p:nvSpPr>
        <p:spPr>
          <a:xfrm>
            <a:off x="874300" y="1252025"/>
            <a:ext cx="7613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Viết tắt (abbreviations)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45" name="Google Shape;1945;p39"/>
          <p:cNvGraphicFramePr/>
          <p:nvPr/>
        </p:nvGraphicFramePr>
        <p:xfrm>
          <a:off x="914450" y="210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{F1A52AAD-CB1E-4C60-80C1-E01725EF7B7E}</a:tableStyleId>
              </a:tblPr>
              <a:tblGrid>
                <a:gridCol w="2178400"/>
                <a:gridCol w="2279800"/>
                <a:gridCol w="278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∀r: rat· r≥0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</a:t>
                      </a:r>
                      <a:r>
                        <a:rPr i="1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iết tắt cho</a:t>
                      </a:r>
                      <a:endParaRPr i="1"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∀〈r: rat· r≥0〉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Σn: nat+1· 1/2</a:t>
                      </a:r>
                      <a:r>
                        <a:rPr baseline="30000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Σ〈n: nat+1· 1/2</a:t>
                      </a:r>
                      <a:r>
                        <a:rPr baseline="30000"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〉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∀x, y: rat· x = y+1 ⇒ x &gt; y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∀x: rat· ∀y: rat· x = y+1 ⇒ x &gt; y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Σn, m: 0,..10· n×m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Σn: 0,..10· Σm: 0,..10· n×m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40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Quantifiers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1" name="Google Shape;1951;p40"/>
          <p:cNvSpPr txBox="1"/>
          <p:nvPr>
            <p:ph idx="1" type="subTitle"/>
          </p:nvPr>
        </p:nvSpPr>
        <p:spPr>
          <a:xfrm>
            <a:off x="659475" y="1604325"/>
            <a:ext cx="81612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biểu thức diễn đạt ý nghĩa cho một biến không phải cục bộ của nó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∃n: nat· x = 2×n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nghĩa là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“x là số chẵn”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41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Nghiệm (Solutions)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7" name="Google Shape;1957;p41"/>
          <p:cNvSpPr txBox="1"/>
          <p:nvPr>
            <p:ph idx="1" type="subTitle"/>
          </p:nvPr>
        </p:nvSpPr>
        <p:spPr>
          <a:xfrm>
            <a:off x="659475" y="814750"/>
            <a:ext cx="81612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§p là (các) nghiệm của vị từ p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§v: </a:t>
            </a:r>
            <a:r>
              <a:rPr i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null·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i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null</a:t>
            </a:r>
            <a:endParaRPr i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§v: x· b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〈v: x· b〉 x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x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null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§v: A,B· b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(§v: A· b), (§v: B· b)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§{i: int· i</a:t>
            </a:r>
            <a:r>
              <a:rPr baseline="30000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=4}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{–2, 2}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§{n: nat· n&lt;3} 	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{0,..,3}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42"/>
          <p:cNvSpPr txBox="1"/>
          <p:nvPr>
            <p:ph idx="4294967295" type="title"/>
          </p:nvPr>
        </p:nvSpPr>
        <p:spPr>
          <a:xfrm>
            <a:off x="957450" y="1722225"/>
            <a:ext cx="7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(Specification)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43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(Specification)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68" name="Google Shape;1968;p43"/>
          <p:cNvGraphicFramePr/>
          <p:nvPr/>
        </p:nvGraphicFramePr>
        <p:xfrm>
          <a:off x="952500" y="83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{F1A52AAD-CB1E-4C60-80C1-E01725EF7B7E}</a:tableStyleId>
              </a:tblPr>
              <a:tblGrid>
                <a:gridCol w="1645725"/>
                <a:gridCol w="1747150"/>
                <a:gridCol w="384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state space</a:t>
                      </a:r>
                      <a:endParaRPr b="1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memory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int; (0,..20); char; rat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state</a:t>
                      </a:r>
                      <a:endParaRPr b="1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memory contents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–2; 15; “A”; 3.14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prestate</a:t>
                      </a:r>
                      <a:endParaRPr b="1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initial state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   =   σ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; σ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; σ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; σ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3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       =    i ; n ; c ; x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poststate</a:t>
                      </a:r>
                      <a:endParaRPr b="1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final state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σʹ   =   σʹ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; σʹ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; σʹ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; σʹ</a:t>
                      </a:r>
                      <a:r>
                        <a:rPr baseline="-25000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3</a:t>
                      </a: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   =    iʹ ; nʹ ; cʹ ; xʹ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addresses</a:t>
                      </a:r>
                      <a:endParaRPr b="1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low level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0 , 1 , 2 , 3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state variables</a:t>
                      </a:r>
                      <a:endParaRPr b="1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high level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 , n , c , x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initial values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 , n , c , x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final values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iʹ , nʹ , cʹ , xʹ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69" name="Google Shape;1969;p43"/>
          <p:cNvSpPr txBox="1"/>
          <p:nvPr/>
        </p:nvSpPr>
        <p:spPr>
          <a:xfrm>
            <a:off x="952500" y="4166175"/>
            <a:ext cx="723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For now: prestate, poststate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Later: time (termination = finite time), space, interaction, communication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44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(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Specification)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75" name="Google Shape;1975;p44"/>
          <p:cNvSpPr txBox="1"/>
          <p:nvPr>
            <p:ph idx="1" type="subTitle"/>
          </p:nvPr>
        </p:nvSpPr>
        <p:spPr>
          <a:xfrm>
            <a:off x="659475" y="814750"/>
            <a:ext cx="81612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hành vi của máy tính: biểu thức nhị phân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Trong các biến σ và σʹ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Input: prestate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phép tính thỏa mãn (SATisfied) một đặc tả nếu tính ra một poststate phù hợp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Prestate cho trước và poststate tính được chứng minh đặc tả là đúng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45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(Specification)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1" name="Google Shape;1981;p45"/>
          <p:cNvSpPr txBox="1"/>
          <p:nvPr>
            <p:ph idx="1" type="subTitle"/>
          </p:nvPr>
        </p:nvSpPr>
        <p:spPr>
          <a:xfrm>
            <a:off x="659475" y="814750"/>
            <a:ext cx="81612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không thỏa mãn (unSATisfy)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prestate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σ : 				|(§σʹ· S)| &lt; 1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thỏa mãn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(SATisfy)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prestate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σ : 					|(§σʹ· S)| ≥ 1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tất định (deterministic) cho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prestate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σ : 			|(§σʹ· S)| ≤ 1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không tất định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(non-deterministic)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đối với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prestate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σ : 	|(§σʹ· S)| &gt; 1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thỏa mãn (SATisfy) prestate σ : 					∃σʹ· 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</a:t>
            </a: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có thể triển khai được (implementable) : 				∀σ· ∃σʹ· S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46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Đặc tả (Specification) - Ví dụ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87" name="Google Shape;1987;p46"/>
          <p:cNvGraphicFramePr/>
          <p:nvPr/>
        </p:nvGraphicFramePr>
        <p:xfrm>
          <a:off x="1605650" y="90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{F1A52AAD-CB1E-4C60-80C1-E01725EF7B7E}</a:tableStyleId>
              </a:tblPr>
              <a:tblGrid>
                <a:gridCol w="1970775"/>
                <a:gridCol w="4380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xʹ = x+1 ∧ yʹ = y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implementable, deterministic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xʹ &gt; x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implementable, nondeterministic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⊤V x’ V y’ V …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implementable, extremely nondeterministic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⊥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unimplementable, overly deterministic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x≥0 ∧ yʹ=0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unimplementable, overly deterministic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x≥0 ⇒ yʹ=0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implementable, nondeterministic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88" name="Google Shape;1988;p46"/>
          <p:cNvSpPr txBox="1"/>
          <p:nvPr/>
        </p:nvSpPr>
        <p:spPr>
          <a:xfrm>
            <a:off x="952500" y="3532025"/>
            <a:ext cx="7614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ok 	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σʹ = σ 			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xʹ = x ∧ yʹ = y ∧ ...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e 	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σʹ = σ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⊲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address “x” ⊳ e 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xʹ = e ∧ yʹ = y ∧ ...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x+1 							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xʹ = x+1 ∧ yʹ = y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x=y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x:= x+1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xʹ+yʹ = 3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47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Sequential Composition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4" name="Google Shape;1994;p47"/>
          <p:cNvSpPr txBox="1"/>
          <p:nvPr/>
        </p:nvSpPr>
        <p:spPr>
          <a:xfrm>
            <a:off x="602425" y="957725"/>
            <a:ext cx="7964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S. R 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∃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xʹʹ,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yʹʹ, ...· 		(substitute xʹʹ, yʹʹ, ... for xʹ, yʹ, ... in S 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∧ (substitute xʹʹ, yʹʹ, ... for x, y, ... in R 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Với biến số nguyên x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xʹ=x ∨ xʹ=x+1 . xʹ=x ∨ xʹ=x+1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	∃xʹʹ· (xʹʹ=x ∨ xʹʹ=x+1) ∧ (xʹ=xʹʹ ∨ xʹ=xʹʹ+1) 					distribute ∧ over ∨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∃xʹʹ· xʹʹ=x ∧ xʹ=xʹʹ 	∨ 	xʹʹ=x+1 ∧ xʹ=xʹʹ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∨ xʹʹ=x ∧ xʹ=xʹʹ+1 	∨ 	xʹʹ=x+1 ∧ xʹ=xʹʹ+1 			distribute ∃ over ∨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(∃xʹʹ· xʹʹ=x ∧ xʹ=xʹʹ) 	∨	 (∃xʹʹ· xʹʹ=x+1 ∧ xʹ=xʹʹ)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∨ (∃xʹʹ· xʹʹ=x ∧ xʹ=xʹʹ+1) 	∨ 	(∃xʹʹ· xʹʹ=x+1 ∧ xʹ=xʹʹ+1) 		One-Point Law 4 times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	xʹ=x ∨ xʹ=x+1 ∨ xʹ=x+2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48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Sequential Composition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0" name="Google Shape;2000;p48"/>
          <p:cNvSpPr txBox="1"/>
          <p:nvPr/>
        </p:nvSpPr>
        <p:spPr>
          <a:xfrm>
            <a:off x="602425" y="957725"/>
            <a:ext cx="7964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S. R 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∃xʹʹ, yʹʹ, ...· 		(substitute xʹʹ, yʹʹ, ... for xʹ, yʹ, ... in S 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∧ (substitute xʹʹ, yʹʹ, ... for x, y, ... in R 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Với biến số nguyên x và y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3. y:= x+y 							eliminate assignments first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	xʹ=3 ∧ yʹ=y. xʹ=x ∧ yʹ=x+y 					then eliminate sequential composition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	∃xʹʹ, yʹʹ: int· xʹʹ=3 ∧ yʹʹ=y ∧ xʹ=xʹʹ ∧ yʹ=xʹʹ+yʹʹ 		use One-Point Law twice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	xʹ=3 ∧ yʹ = 3+y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49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luật đặc tả (Specification laws)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6" name="Google Shape;2006;p49"/>
          <p:cNvSpPr txBox="1"/>
          <p:nvPr/>
        </p:nvSpPr>
        <p:spPr>
          <a:xfrm>
            <a:off x="602425" y="957725"/>
            <a:ext cx="79647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ok.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P. ok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									Identity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P. (Q. R)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(P. Q). R 									Associative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								Idempotent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Q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¬b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Q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	Case Reversal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⇒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¬b ⇒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		Case Creation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S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b∧S ∨ ¬b∧R 						Case Analysis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S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(b⇒S) ∧ (¬b⇒R) 						Case Analysis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P∨Q. R∨S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(P. R) ∨ (P. S) ∨ (Q. R) ∨ (Q. S) 						Distributive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Q f∧R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P∧R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Q∧R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Distributive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Q f. 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P. 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Q. R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				Distributive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e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f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b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x:= e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x:= f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Functional-Imperative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e. P = (for x substitute e in P ) 							Substitution Law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50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Luật thay thế (Substitution laws)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2" name="Google Shape;2012;p50"/>
          <p:cNvSpPr txBox="1"/>
          <p:nvPr/>
        </p:nvSpPr>
        <p:spPr>
          <a:xfrm>
            <a:off x="602425" y="957725"/>
            <a:ext cx="79647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e. P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	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(thay x bằng e trong vị từ P )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y+1. yʹ &gt; xʹ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yʹ &gt; xʹ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x+1. yʹ&gt;x ∧ xʹ&gt;x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yʹ &gt; x+1 ∧ xʹ &gt; x+1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y+1. yʹ = 2×x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yʹ = 2×(y+1)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1. x≥1 ⇒ ∃x· yʹ = 2×x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1≥1 ⇒ ∃x· yʹ = 2×x = even yʹ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y. x≥1 ⇒ ∃y· yʹ = x×y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x:= y. x≥1 ⇒ ∃k· yʹ = x×k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y≥1 ⇒ ∃k· yʹ = y×k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1. ok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x:= 1. xʹ =x ∧ yʹ =y 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xʹ=1 ∧ yʹ =y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1. y:= 2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x:= 1. xʹ =x ∧ yʹ=2 	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	xʹ=1 ∧ yʹ=2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51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Luật thay thế (Substitution laws)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8" name="Google Shape;2018;p51"/>
          <p:cNvSpPr txBox="1"/>
          <p:nvPr/>
        </p:nvSpPr>
        <p:spPr>
          <a:xfrm>
            <a:off x="602425" y="957725"/>
            <a:ext cx="7964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e. P 	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 	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(thay x bằng e trong vị từ P )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1. y:= 2. x:= x+y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x:= 1. y:= 2. xʹ = x+y ∧ yʹ =y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x:= 1. xʹ = x+2 ∧ yʹ=2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xʹ=3 ∧ yʹ=2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9" name="Google Shape;2019;p51"/>
          <p:cNvSpPr txBox="1"/>
          <p:nvPr/>
        </p:nvSpPr>
        <p:spPr>
          <a:xfrm>
            <a:off x="4762250" y="157880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x:= 1. xʹ &gt; x. xʹ = x+1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xʹ &gt; 1. xʹ = x+1 </a:t>
            </a:r>
            <a:b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∃xʹʹ, yʹʹ · xʹʹ&gt;1 ∧ xʹ = xʹʹ+1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∃xʹʹ · xʹʹ&gt;1 ∧ xʹ = xʹʹ+1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∃xʹʹ · xʹʹ&gt;1 ∧ xʹʹ = xʹ–1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xʹ–1 &gt; 1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=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xʹ&gt;2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52"/>
          <p:cNvSpPr txBox="1"/>
          <p:nvPr>
            <p:ph type="title"/>
          </p:nvPr>
        </p:nvSpPr>
        <p:spPr>
          <a:xfrm>
            <a:off x="2243200" y="1688000"/>
            <a:ext cx="51057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Question?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
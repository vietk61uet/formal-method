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Fjalla One"/>
      <p:regular r:id="rId31"/>
    </p:embeddedFont>
    <p:embeddedFont>
      <p:font typeface="Barlow Semi Condensed Medium"/>
      <p:regular r:id="rId32"/>
      <p:bold r:id="rId33"/>
      <p:italic r:id="rId34"/>
      <p:boldItalic r:id="rId35"/>
    </p:embeddedFont>
    <p:embeddedFont>
      <p:font typeface="Barlow Semi Condensed"/>
      <p:regular r:id="rId36"/>
      <p:bold r:id="rId37"/>
      <p:italic r:id="rId38"/>
      <p:boldItalic r:id="rId39"/>
    </p:embeddedFont>
    <p:embeddedFont>
      <p:font typeface="Barlow Semi Condensed SemiBold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CF3779-7479-428E-94E1-A05A03A634DA}">
  <a:tblStyle styleId="{CDCF3779-7479-428E-94E1-A05A03A634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SemiCondensedSemiBold-regular.fntdata"/><Relationship Id="rId20" Type="http://schemas.openxmlformats.org/officeDocument/2006/relationships/slide" Target="slides/slide15.xml"/><Relationship Id="rId42" Type="http://schemas.openxmlformats.org/officeDocument/2006/relationships/font" Target="fonts/BarlowSemiCondensedSemiBold-italic.fntdata"/><Relationship Id="rId41" Type="http://schemas.openxmlformats.org/officeDocument/2006/relationships/font" Target="fonts/BarlowSemiCondensedSemiBold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BarlowSemiCondensedSemiBold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jallaOne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BarlowSemiCondensedMedium-bold.fntdata"/><Relationship Id="rId10" Type="http://schemas.openxmlformats.org/officeDocument/2006/relationships/slide" Target="slides/slide5.xml"/><Relationship Id="rId32" Type="http://schemas.openxmlformats.org/officeDocument/2006/relationships/font" Target="fonts/BarlowSemiCondensedMedium-regular.fntdata"/><Relationship Id="rId13" Type="http://schemas.openxmlformats.org/officeDocument/2006/relationships/slide" Target="slides/slide8.xml"/><Relationship Id="rId35" Type="http://schemas.openxmlformats.org/officeDocument/2006/relationships/font" Target="fonts/BarlowSemiCondensed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BarlowSemiCondensedMedium-italic.fntdata"/><Relationship Id="rId15" Type="http://schemas.openxmlformats.org/officeDocument/2006/relationships/slide" Target="slides/slide10.xml"/><Relationship Id="rId37" Type="http://schemas.openxmlformats.org/officeDocument/2006/relationships/font" Target="fonts/BarlowSemiCondensed-bold.fntdata"/><Relationship Id="rId14" Type="http://schemas.openxmlformats.org/officeDocument/2006/relationships/slide" Target="slides/slide9.xml"/><Relationship Id="rId36" Type="http://schemas.openxmlformats.org/officeDocument/2006/relationships/font" Target="fonts/BarlowSemiCondensed-regular.fntdata"/><Relationship Id="rId17" Type="http://schemas.openxmlformats.org/officeDocument/2006/relationships/slide" Target="slides/slide12.xml"/><Relationship Id="rId39" Type="http://schemas.openxmlformats.org/officeDocument/2006/relationships/font" Target="fonts/BarlowSemiCondensed-boldItalic.fntdata"/><Relationship Id="rId16" Type="http://schemas.openxmlformats.org/officeDocument/2006/relationships/slide" Target="slides/slide11.xml"/><Relationship Id="rId38" Type="http://schemas.openxmlformats.org/officeDocument/2006/relationships/font" Target="fonts/BarlowSemiCondense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3a3eb20b9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3a3eb20b9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g2c43760e23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5" name="Google Shape;1895;g2c43760e23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26d43400e1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1" name="Google Shape;1901;g26d43400e1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g2c85a1b986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7" name="Google Shape;1907;g2c85a1b986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g2c85a1b986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6" name="Google Shape;1916;g2c85a1b986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2c85a1b986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4" name="Google Shape;1924;g2c85a1b986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2c85a1b986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3" name="Google Shape;1933;g2c85a1b986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g2c85a1b986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0" name="Google Shape;1940;g2c85a1b986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g2c85a1b986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2c85a1b986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2c85a1b9866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2c85a1b9866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g2c85a1b9866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" name="Google Shape;1959;g2c85a1b9866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g2c85a1b9866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6" name="Google Shape;1966;g2c85a1b9866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2c85a1b9866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5" name="Google Shape;1975;g2c85a1b9866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g2c85a1b9866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2" name="Google Shape;1982;g2c85a1b9866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2c85a1b9866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2c85a1b9866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g2c85a1b9866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8" name="Google Shape;1998;g2c85a1b9866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2c85a1b9866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2c85a1b9866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g2c872338bd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2" name="Google Shape;2012;g2c872338bd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g2c872338bd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1" name="Google Shape;2021;g2c872338bd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g2c872338bd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9" name="Google Shape;2029;g2c872338bd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g2c872338bd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8" name="Google Shape;2038;g2c872338bd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g2c872338bd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5" name="Google Shape;2045;g2c872338bd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g2c872338bd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2" name="Google Shape;2052;g2c872338bd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g2b3d61adcc9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9" name="Google Shape;2059;g2b3d61adcc9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2801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1844425" y="228900"/>
            <a:ext cx="52833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Font typeface="Barlow Semi Condensed"/>
              <a:buNone/>
              <a:defRPr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obj">
  <p:cSld name="OBJECT"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3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684" name="Google Shape;1684;p3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685" name="Google Shape;1685;p33"/>
          <p:cNvSpPr txBox="1"/>
          <p:nvPr>
            <p:ph idx="12" type="sldNum"/>
          </p:nvPr>
        </p:nvSpPr>
        <p:spPr>
          <a:xfrm>
            <a:off x="8021807" y="4873805"/>
            <a:ext cx="340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/81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mathsisfun.com/sets/sets-introduction.html" TargetMode="External"/><Relationship Id="rId4" Type="http://schemas.openxmlformats.org/officeDocument/2006/relationships/hyperlink" Target="https://www.mathsisfun.com/sets/venn-diagrams.html" TargetMode="External"/><Relationship Id="rId5" Type="http://schemas.openxmlformats.org/officeDocument/2006/relationships/hyperlink" Target="https://www.mathsisfun.com/sets/venn-diagrams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mathsisfun.com/sets/venn-diagrams.html" TargetMode="External"/><Relationship Id="rId4" Type="http://schemas.openxmlformats.org/officeDocument/2006/relationships/hyperlink" Target="https://www.mathsisfun.com/sets/venn-diagrams.html" TargetMode="External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mathsisfun.com/sets/sets-introduction.html" TargetMode="External"/><Relationship Id="rId4" Type="http://schemas.openxmlformats.org/officeDocument/2006/relationships/hyperlink" Target="https://www.mathsisfun.com/sets/sets-introduction.html" TargetMode="External"/><Relationship Id="rId5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mathsisfun.com/sets/power-set.html" TargetMode="External"/><Relationship Id="rId4" Type="http://schemas.openxmlformats.org/officeDocument/2006/relationships/hyperlink" Target="https://www.mathsisfun.com/sets/set-builder-notation.html" TargetMode="External"/><Relationship Id="rId5" Type="http://schemas.openxmlformats.org/officeDocument/2006/relationships/hyperlink" Target="https://www.mathsisfun.com/sets/set-builder-notation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4"/>
          <p:cNvGrpSpPr/>
          <p:nvPr/>
        </p:nvGrpSpPr>
        <p:grpSpPr>
          <a:xfrm>
            <a:off x="-114459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4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4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4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4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4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4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4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4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4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4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4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4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4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4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4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4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4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4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4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4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4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4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4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4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4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4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4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4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4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4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4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4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4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4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4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4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4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4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4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4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4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4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4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4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4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4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4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4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4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4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4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4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4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4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4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4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4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4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4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4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4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4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4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4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4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4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4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4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4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4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4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4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4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4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4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4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4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4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4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4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4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4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4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4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4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4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4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4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4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4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4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4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4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4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4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4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4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4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4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4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4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4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4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4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4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4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4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4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4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4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4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4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4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4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4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4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4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4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4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4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4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4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4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4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4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4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4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4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4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4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4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4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4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4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4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4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4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4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4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4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34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34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34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4" name="Google Shape;1884;p34"/>
          <p:cNvSpPr txBox="1"/>
          <p:nvPr>
            <p:ph type="ctrTitle"/>
          </p:nvPr>
        </p:nvSpPr>
        <p:spPr>
          <a:xfrm>
            <a:off x="3622800" y="1468575"/>
            <a:ext cx="5521200" cy="146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rPr>
              <a:t>Các phương pháp hình thức </a:t>
            </a:r>
            <a:endParaRPr sz="3900">
              <a:latin typeface="Barlow Semi Condensed SemiBold"/>
              <a:ea typeface="Barlow Semi Condensed SemiBold"/>
              <a:cs typeface="Barlow Semi Condensed SemiBold"/>
              <a:sym typeface="Barlow Semi Condense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rPr>
              <a:t>(Formal Methods)</a:t>
            </a:r>
            <a:endParaRPr sz="3900">
              <a:solidFill>
                <a:schemeClr val="dk2"/>
              </a:solidFill>
              <a:latin typeface="Barlow Semi Condensed SemiBold"/>
              <a:ea typeface="Barlow Semi Condensed SemiBold"/>
              <a:cs typeface="Barlow Semi Condensed SemiBold"/>
              <a:sym typeface="Barlow Semi Condensed SemiBold"/>
            </a:endParaRPr>
          </a:p>
        </p:txBody>
      </p:sp>
      <p:sp>
        <p:nvSpPr>
          <p:cNvPr id="1885" name="Google Shape;1885;p34"/>
          <p:cNvSpPr txBox="1"/>
          <p:nvPr>
            <p:ph idx="1" type="subTitle"/>
          </p:nvPr>
        </p:nvSpPr>
        <p:spPr>
          <a:xfrm>
            <a:off x="4751256" y="3857533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TS. Lê Khánh Trình</a:t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</p:txBody>
      </p:sp>
      <p:sp>
        <p:nvSpPr>
          <p:cNvPr id="1886" name="Google Shape;1886;p34"/>
          <p:cNvSpPr txBox="1"/>
          <p:nvPr>
            <p:ph type="ctrTitle"/>
          </p:nvPr>
        </p:nvSpPr>
        <p:spPr>
          <a:xfrm>
            <a:off x="4059375" y="2881750"/>
            <a:ext cx="4904400" cy="6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Bunch, Set, String, và List</a:t>
            </a:r>
            <a:endParaRPr sz="240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35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BTVN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1892" name="Google Shape;189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513" y="818900"/>
            <a:ext cx="7248986" cy="40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36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BTVN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1898" name="Google Shape;189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125" y="1105500"/>
            <a:ext cx="8839197" cy="3621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3" name="Google Shape;1903;p37"/>
          <p:cNvGraphicFramePr/>
          <p:nvPr/>
        </p:nvGraphicFramePr>
        <p:xfrm>
          <a:off x="1520500" y="17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{CDCF3779-7479-428E-94E1-A05A03A634DA}</a:tableStyleId>
              </a:tblPr>
              <a:tblGrid>
                <a:gridCol w="1824175"/>
                <a:gridCol w="1824175"/>
                <a:gridCol w="1824175"/>
              </a:tblGrid>
              <a:tr h="432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Type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Packaged?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Indexed?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000FF"/>
                          </a:solidFill>
                        </a:rPr>
                        <a:t>bunch</a:t>
                      </a:r>
                      <a:endParaRPr b="1" sz="16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–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–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000FF"/>
                          </a:solidFill>
                        </a:rPr>
                        <a:t>set</a:t>
                      </a:r>
                      <a:endParaRPr b="1" sz="16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Y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–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000FF"/>
                          </a:solidFill>
                        </a:rPr>
                        <a:t>string</a:t>
                      </a:r>
                      <a:endParaRPr b="1" sz="16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–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Y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000FF"/>
                          </a:solidFill>
                        </a:rPr>
                        <a:t>list</a:t>
                      </a:r>
                      <a:endParaRPr b="1" sz="16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Y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Y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4" name="Google Shape;1904;p37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Cấu trúc dữ liệu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38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Bunch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0" name="Google Shape;1910;p38"/>
          <p:cNvSpPr txBox="1"/>
          <p:nvPr>
            <p:ph idx="1" type="subTitle"/>
          </p:nvPr>
        </p:nvSpPr>
        <p:spPr>
          <a:xfrm>
            <a:off x="401775" y="1187075"/>
            <a:ext cx="80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Bunches được sử dụng để biểu diễn tập các sự vật (a collection of things)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1" name="Google Shape;1911;p38"/>
          <p:cNvSpPr txBox="1"/>
          <p:nvPr>
            <p:ph idx="2" type="subTitle"/>
          </p:nvPr>
        </p:nvSpPr>
        <p:spPr>
          <a:xfrm>
            <a:off x="401775" y="1658125"/>
            <a:ext cx="80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1, 3, 5					T, F, 5, “a”						2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2" name="Google Shape;1912;p38"/>
          <p:cNvSpPr txBox="1"/>
          <p:nvPr>
            <p:ph idx="3" type="subTitle"/>
          </p:nvPr>
        </p:nvSpPr>
        <p:spPr>
          <a:xfrm>
            <a:off x="401775" y="2392425"/>
            <a:ext cx="80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Bất kỳ số, ký tự, nhị phân hoặc tập hợp nào đều là một bunch hoặc element cơ bản.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1913" name="Google Shape;1913;p38"/>
          <p:cNvGraphicFramePr/>
          <p:nvPr/>
        </p:nvGraphicFramePr>
        <p:xfrm>
          <a:off x="1749850" y="299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{CDCF3779-7479-428E-94E1-A05A03A634DA}</a:tableStyleId>
              </a:tblPr>
              <a:tblGrid>
                <a:gridCol w="2438450"/>
                <a:gridCol w="2438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 , B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Hợp (union)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 ' B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Giao (intersection)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¢A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Kích thước (size, cardinality)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A: B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Bao gồm (inclusion)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39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Lý thuyết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Bunch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9" name="Google Shape;1919;p39"/>
          <p:cNvSpPr txBox="1"/>
          <p:nvPr>
            <p:ph idx="1" type="subTitle"/>
          </p:nvPr>
        </p:nvSpPr>
        <p:spPr>
          <a:xfrm>
            <a:off x="1087575" y="1187075"/>
            <a:ext cx="324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1, 3, 7 = 3, 1, 7, 1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0" name="Google Shape;1920;p39"/>
          <p:cNvSpPr txBox="1"/>
          <p:nvPr>
            <p:ph idx="2" type="subTitle"/>
          </p:nvPr>
        </p:nvSpPr>
        <p:spPr>
          <a:xfrm>
            <a:off x="1087575" y="2039125"/>
            <a:ext cx="32421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¢2 = 1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¢(1, 3, 7) = 3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1" name="Google Shape;1921;p39"/>
          <p:cNvSpPr txBox="1"/>
          <p:nvPr>
            <p:ph idx="3" type="subTitle"/>
          </p:nvPr>
        </p:nvSpPr>
        <p:spPr>
          <a:xfrm>
            <a:off x="1087575" y="3237550"/>
            <a:ext cx="32421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2: 0, 2, 5, 9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2: 2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2, 9: 0, 2, 5, 9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40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Lý thuyết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Bunch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7" name="Google Shape;1927;p40"/>
          <p:cNvSpPr txBox="1"/>
          <p:nvPr>
            <p:ph idx="1" type="subTitle"/>
          </p:nvPr>
        </p:nvSpPr>
        <p:spPr>
          <a:xfrm>
            <a:off x="1087575" y="1187075"/>
            <a:ext cx="80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1, 3, 7 = 3, 1, 7, 1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8" name="Google Shape;1928;p40"/>
          <p:cNvSpPr txBox="1"/>
          <p:nvPr>
            <p:ph idx="2" type="subTitle"/>
          </p:nvPr>
        </p:nvSpPr>
        <p:spPr>
          <a:xfrm>
            <a:off x="1087575" y="2039125"/>
            <a:ext cx="80856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¢2 = 1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¢(1, 3, 7) = 3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9" name="Google Shape;1929;p40"/>
          <p:cNvSpPr txBox="1"/>
          <p:nvPr>
            <p:ph idx="3" type="subTitle"/>
          </p:nvPr>
        </p:nvSpPr>
        <p:spPr>
          <a:xfrm>
            <a:off x="1087575" y="3237550"/>
            <a:ext cx="80856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2: 0, 2, 5, 9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2: 2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2, 9: 0, 2, 5, 9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1930" name="Google Shape;1930;p40"/>
          <p:cNvGraphicFramePr/>
          <p:nvPr/>
        </p:nvGraphicFramePr>
        <p:xfrm>
          <a:off x="4630800" y="118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{CDCF3779-7479-428E-94E1-A05A03A634DA}</a:tableStyleId>
              </a:tblPr>
              <a:tblGrid>
                <a:gridCol w="1960450"/>
                <a:gridCol w="1960450"/>
              </a:tblGrid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Tiên đề (Axiom)</a:t>
                      </a:r>
                      <a:endParaRPr b="1"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Giải thích</a:t>
                      </a:r>
                      <a:endParaRPr b="1"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x: y </a:t>
                      </a:r>
                      <a:r>
                        <a:rPr lang="en" sz="14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x=y 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elementary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x: A,B </a:t>
                      </a:r>
                      <a:r>
                        <a:rPr lang="en" sz="14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x: A ∨ x: B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compound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A,A </a:t>
                      </a:r>
                      <a:r>
                        <a:rPr lang="en" sz="14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A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idempotence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A,B </a:t>
                      </a:r>
                      <a:r>
                        <a:rPr lang="en" sz="14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B,A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symmetry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A,(B,C) </a:t>
                      </a:r>
                      <a:r>
                        <a:rPr lang="en" sz="14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(A,B),C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associativity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A‘A </a:t>
                      </a:r>
                      <a:r>
                        <a:rPr lang="en" sz="14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A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idempotence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41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Lý thuyết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Bunch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1936" name="Google Shape;1936;p41"/>
          <p:cNvGraphicFramePr/>
          <p:nvPr/>
        </p:nvGraphicFramePr>
        <p:xfrm>
          <a:off x="4630800" y="118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{CDCF3779-7479-428E-94E1-A05A03A634DA}</a:tableStyleId>
              </a:tblPr>
              <a:tblGrid>
                <a:gridCol w="1960450"/>
                <a:gridCol w="1960450"/>
              </a:tblGrid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Tiên đề (Axiom)</a:t>
                      </a:r>
                      <a:endParaRPr b="1"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Giải thích</a:t>
                      </a:r>
                      <a:endParaRPr b="1"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x: y </a:t>
                      </a:r>
                      <a:r>
                        <a:rPr lang="en" sz="14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x=y 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elementary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x: A,B </a:t>
                      </a:r>
                      <a:r>
                        <a:rPr lang="en" sz="14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x: A ∨ x: B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compound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A,A </a:t>
                      </a:r>
                      <a:r>
                        <a:rPr lang="en" sz="14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A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idempotence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A,B </a:t>
                      </a:r>
                      <a:r>
                        <a:rPr lang="en" sz="14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B,A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symmetry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A,(B,C) </a:t>
                      </a:r>
                      <a:r>
                        <a:rPr lang="en" sz="14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(A,B),C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associativity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A‘A </a:t>
                      </a:r>
                      <a:r>
                        <a:rPr lang="en" sz="14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A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idempotence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37" name="Google Shape;1937;p41"/>
          <p:cNvGraphicFramePr/>
          <p:nvPr/>
        </p:nvGraphicFramePr>
        <p:xfrm>
          <a:off x="502150" y="118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{CDCF3779-7479-428E-94E1-A05A03A634DA}</a:tableStyleId>
              </a:tblPr>
              <a:tblGrid>
                <a:gridCol w="1960450"/>
                <a:gridCol w="1960450"/>
              </a:tblGrid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Tiên đề (Axiom)</a:t>
                      </a:r>
                      <a:endParaRPr b="1"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Giải thích</a:t>
                      </a:r>
                      <a:endParaRPr b="1"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A‘B </a:t>
                      </a:r>
                      <a:r>
                        <a:rPr lang="en" sz="18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B‘A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symmetry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A‘(B‘C) </a:t>
                      </a:r>
                      <a:r>
                        <a:rPr lang="en" sz="18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(A‘B)‘C 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associativity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A,B: C </a:t>
                      </a:r>
                      <a:r>
                        <a:rPr lang="en" sz="18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A: C ∧ B: C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anti-distributivity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A: B‘C </a:t>
                      </a:r>
                      <a:r>
                        <a:rPr lang="en" sz="18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≡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A: B ∧ A: C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distributivity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A: A,B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generalization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A‘B: A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specialization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42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Lý thuyết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Bunch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1943" name="Google Shape;1943;p42"/>
          <p:cNvGraphicFramePr/>
          <p:nvPr/>
        </p:nvGraphicFramePr>
        <p:xfrm>
          <a:off x="2175125" y="109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{CDCF3779-7479-428E-94E1-A05A03A634DA}</a:tableStyleId>
              </a:tblPr>
              <a:tblGrid>
                <a:gridCol w="2396875"/>
                <a:gridCol w="23968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Tiên đề (Axiom)</a:t>
                      </a:r>
                      <a:endParaRPr b="1"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Giải thích</a:t>
                      </a:r>
                      <a:endParaRPr b="1"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A: A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reflexivity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A: B ∧ B: A = A=B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antisymmetry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A: B ∧ B: C ⇒ A: C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transitivity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¢x = 1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¢(A,B) + ¢(A‘B) = ¢A + ¢B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¬ x: A ⇒ ¢(A‘x) = 0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A: B ⇒ ¢A ≤ ¢B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43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Lý thuyết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Bunch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1949" name="Google Shape;1949;p43"/>
          <p:cNvGraphicFramePr/>
          <p:nvPr/>
        </p:nvGraphicFramePr>
        <p:xfrm>
          <a:off x="4630800" y="118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{CDCF3779-7479-428E-94E1-A05A03A634DA}</a:tableStyleId>
              </a:tblPr>
              <a:tblGrid>
                <a:gridCol w="2121500"/>
                <a:gridCol w="1667950"/>
              </a:tblGrid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Luật (laws)</a:t>
                      </a:r>
                      <a:endParaRPr b="1"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Giải thích</a:t>
                      </a:r>
                      <a:endParaRPr b="1"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A,(B‘C) = (A,B)‘(A,C)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distributivity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A‘(B,C) = (A‘B), (A‘C)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A‘(B‘C) = (A‘B)‘(A‘C)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A,(B,C) = (A,B),(A,C)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A: B ∧ C: D ⇒ A,C: B,D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conflation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A: B ∧ C: D ⇒ A‘C: B‘D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50" name="Google Shape;1950;p43"/>
          <p:cNvGraphicFramePr/>
          <p:nvPr/>
        </p:nvGraphicFramePr>
        <p:xfrm>
          <a:off x="526400" y="118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{CDCF3779-7479-428E-94E1-A05A03A634DA}</a:tableStyleId>
              </a:tblPr>
              <a:tblGrid>
                <a:gridCol w="2024525"/>
                <a:gridCol w="1629675"/>
              </a:tblGrid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Luật</a:t>
                      </a:r>
                      <a:r>
                        <a:rPr b="1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(</a:t>
                      </a:r>
                      <a:r>
                        <a:rPr b="1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laws</a:t>
                      </a:r>
                      <a:r>
                        <a:rPr b="1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)</a:t>
                      </a:r>
                      <a:endParaRPr b="1"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Giải thích</a:t>
                      </a:r>
                      <a:endParaRPr b="1"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A,(A‘B) = A 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absorption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A‘(A,B) = A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A: B ⇒ C,A: C,B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monotonicity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A: B ⇒ C‘A: C‘B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A: B = A,B = B = A = A‘B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inclusion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44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Lý thuyết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Bunch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56" name="Google Shape;1956;p44"/>
          <p:cNvSpPr txBox="1"/>
          <p:nvPr/>
        </p:nvSpPr>
        <p:spPr>
          <a:xfrm>
            <a:off x="1648700" y="1122225"/>
            <a:ext cx="72876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null 								the empty bunch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bin = ⊤, ⊥ 						the binary values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nat = 0, 1, 2, ... 						the natural numbers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int = ..., –2, –1, 0, 1, 2, ... 				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he integer numbers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rat = ..., –1, 0, 2/3, ... 					the rational numbers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real = ..., 21/2, ... 					the real numbers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xnat = 0, 1, 2, ..., ∞ 					the extended natural numbers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xint = –∞, ..., –2, –1, 0, 1, 2, ..., ∞ 			the extended integer numbers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xrat = –∞, ..., –1, 0, 2/3, ..., ∞ 			the extended rational numbers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xreal = –∞, ..., ∞ 					the extended real numbers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char = ..., “a”, “A”, ... 					the character values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45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Lý thuyết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Bunch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62" name="Google Shape;1962;p45"/>
          <p:cNvSpPr txBox="1"/>
          <p:nvPr/>
        </p:nvSpPr>
        <p:spPr>
          <a:xfrm>
            <a:off x="1052950" y="1025225"/>
            <a:ext cx="28263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i: x,..y = x ≤ i &lt; y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¢(x,..y) = y–x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0,..3 = 0, 1, 2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0,..2 = 0, 1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0,..1 = 0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0,..0 = null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0,..∞ = na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63" name="Google Shape;1963;p45"/>
          <p:cNvSpPr txBox="1"/>
          <p:nvPr/>
        </p:nvSpPr>
        <p:spPr>
          <a:xfrm>
            <a:off x="4301850" y="1025225"/>
            <a:ext cx="38238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–(1, 3, 7) = –1, –3, –7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(1, 2) + (10, 20) = 11, 12, 21, 22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(1, 2) + 10 = 11, 12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 + 10 = 11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null + 10 = null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nat + 2 = 2, 3, 4, 5, 6, ...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nat × 2 = 0, 2, 4, 6, 8, ...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nat</a:t>
            </a:r>
            <a:r>
              <a:rPr baseline="30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= 0, 1, 4, 9, 16, ...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</a:t>
            </a:r>
            <a:r>
              <a:rPr baseline="30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nat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= 1, 2, 4, 8, 16, ...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46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(Tập hợp/tập)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69" name="Google Shape;1969;p46"/>
          <p:cNvSpPr txBox="1"/>
          <p:nvPr>
            <p:ph idx="1" type="subTitle"/>
          </p:nvPr>
        </p:nvSpPr>
        <p:spPr>
          <a:xfrm>
            <a:off x="401775" y="988163"/>
            <a:ext cx="80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Sets biểu diễn các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tập hợp các sự vật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1970" name="Google Shape;197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2275" y="1148649"/>
            <a:ext cx="2569025" cy="1552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1" name="Google Shape;197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2975" y="2980300"/>
            <a:ext cx="3484398" cy="14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2" name="Google Shape;1972;p46"/>
          <p:cNvSpPr txBox="1"/>
          <p:nvPr/>
        </p:nvSpPr>
        <p:spPr>
          <a:xfrm>
            <a:off x="367150" y="1586325"/>
            <a:ext cx="4184100" cy="3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Các phần tử (elements/members) bên trong dấu {}</a:t>
            </a:r>
            <a:endParaRPr sz="1600">
              <a:solidFill>
                <a:srgbClr val="333333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{hat, shirt, jacket, pants, ...}</a:t>
            </a:r>
            <a:endParaRPr b="1" sz="1600">
              <a:solidFill>
                <a:srgbClr val="333333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33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Tập hợp biểu diễn các số:</a:t>
            </a:r>
            <a:endParaRPr sz="1600">
              <a:solidFill>
                <a:srgbClr val="333333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Barlow Semi Condensed"/>
              <a:buChar char="●"/>
            </a:pPr>
            <a:r>
              <a:rPr lang="en" sz="16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Tập các số nguyên: {0, 1, 2, 3, ...}</a:t>
            </a:r>
            <a:endParaRPr sz="1600">
              <a:solidFill>
                <a:srgbClr val="333333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Barlow Semi Condensed"/>
              <a:buChar char="●"/>
            </a:pPr>
            <a:r>
              <a:rPr lang="en" sz="16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Tập các số nguyên tố: {2, 3, 5, 7, 11, 13, 17, ...}</a:t>
            </a:r>
            <a:endParaRPr sz="1600">
              <a:solidFill>
                <a:srgbClr val="333333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47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(Tập hợp/tập)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78" name="Google Shape;1978;p47"/>
          <p:cNvGraphicFramePr/>
          <p:nvPr/>
        </p:nvGraphicFramePr>
        <p:xfrm>
          <a:off x="547250" y="150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{CDCF3779-7479-428E-94E1-A05A03A634DA}</a:tableStyleId>
              </a:tblPr>
              <a:tblGrid>
                <a:gridCol w="1409400"/>
                <a:gridCol w="4037750"/>
                <a:gridCol w="2723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Ký tự</a:t>
                      </a:r>
                      <a:endParaRPr b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Ý nghĩa</a:t>
                      </a:r>
                      <a:endParaRPr b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Ví dụ</a:t>
                      </a:r>
                      <a:endParaRPr b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{ 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sng">
                          <a:solidFill>
                            <a:schemeClr val="hlink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  <a:hlinkClick r:id="rId3"/>
                        </a:rPr>
                        <a:t>Set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: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tập các phần tử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{1, 2, 3, 4}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 ∪ 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sng">
                          <a:solidFill>
                            <a:schemeClr val="hlink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  <a:hlinkClick r:id="rId4"/>
                        </a:rPr>
                        <a:t>Union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: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trong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A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hoặc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B (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hoặc cả 2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)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 ∪ D = {1, 2, 3, 4, 5}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 ∩ 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sng">
                          <a:solidFill>
                            <a:schemeClr val="hlink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  <a:hlinkClick r:id="rId5"/>
                        </a:rPr>
                        <a:t>Intersection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: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trong cả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A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và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 ∩ D = {3, 4}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 ⊆ 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Tập con (subset)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: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mọi phần tử của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A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đều trong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B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hoặc A chính là 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{3, 4, 5} ⊆ D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 ⊂ 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Tập con (subset): mọi phần tử của A đều trong B, có thêm các phần tử khác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{3, 5} ⊂ D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 ⊄ 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 không phải tập con của 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{1, 6} ⊄ C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79" name="Google Shape;1979;p47"/>
          <p:cNvSpPr txBox="1"/>
          <p:nvPr/>
        </p:nvSpPr>
        <p:spPr>
          <a:xfrm>
            <a:off x="2941275" y="976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 = {1, 2, 3, 4} </a:t>
            </a:r>
            <a:r>
              <a:rPr b="1" lang="en" sz="18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và</a:t>
            </a:r>
            <a:r>
              <a:rPr i="1" lang="en" sz="18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D = {3, 4, 5}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p48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(Tập hợp/tập)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85" name="Google Shape;1985;p48"/>
          <p:cNvGraphicFramePr/>
          <p:nvPr/>
        </p:nvGraphicFramePr>
        <p:xfrm>
          <a:off x="512625" y="151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{CDCF3779-7479-428E-94E1-A05A03A634DA}</a:tableStyleId>
              </a:tblPr>
              <a:tblGrid>
                <a:gridCol w="1233050"/>
                <a:gridCol w="4308750"/>
                <a:gridCol w="2770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Ký tự</a:t>
                      </a:r>
                      <a:endParaRPr b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Ý nghĩa</a:t>
                      </a:r>
                      <a:endParaRPr b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Ví dụ</a:t>
                      </a:r>
                      <a:endParaRPr b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 ⊇ 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Tập cha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: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 chứa các phần tử của B, </a:t>
                      </a: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hoặc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có thêm các phần tử khác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{1, 2, 3} ⊇ {1, 2, 3}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 ⊃ 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Tập cha: A chứa các phần tử của B, </a:t>
                      </a: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và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có thêm các phần tử khác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{1, 2, 3, 4} ⊃ {1, 2, 3}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 ⊅ 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 không phải tập cha của 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{1, 2, 6} ⊅ {1, 9}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</a:t>
                      </a:r>
                      <a:r>
                        <a:rPr baseline="30000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</a:t>
                      </a:r>
                      <a:endParaRPr baseline="30000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sng">
                          <a:solidFill>
                            <a:schemeClr val="hlink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  <a:hlinkClick r:id="rId3"/>
                        </a:rPr>
                        <a:t>Complement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: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tập các phần tử không thuộc A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D</a:t>
                      </a:r>
                      <a:r>
                        <a:rPr baseline="30000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= {1, 2, 6, 7}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When       = {1, 2, 3, 4, 5, 6, 7}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 − 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sng">
                          <a:solidFill>
                            <a:schemeClr val="hlink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  <a:hlinkClick r:id="rId4"/>
                        </a:rPr>
                        <a:t>Difference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: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tập các phần tử trong A không trong 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{1, 2, 3, 4} − {3, 4} = {1, 2}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86" name="Google Shape;1986;p48"/>
          <p:cNvSpPr txBox="1"/>
          <p:nvPr/>
        </p:nvSpPr>
        <p:spPr>
          <a:xfrm>
            <a:off x="2941275" y="976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 = {1, 2, 3, 4} </a:t>
            </a:r>
            <a:r>
              <a:rPr b="1" lang="en" sz="18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và</a:t>
            </a:r>
            <a:r>
              <a:rPr i="1" lang="en" sz="18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D = {3, 4, 5}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1987" name="Google Shape;1987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8648" y="4059375"/>
            <a:ext cx="195700" cy="18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49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(Tập hợp/tập)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93" name="Google Shape;1993;p49"/>
          <p:cNvGraphicFramePr/>
          <p:nvPr/>
        </p:nvGraphicFramePr>
        <p:xfrm>
          <a:off x="512625" y="182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{CDCF3779-7479-428E-94E1-A05A03A634DA}</a:tableStyleId>
              </a:tblPr>
              <a:tblGrid>
                <a:gridCol w="1233050"/>
                <a:gridCol w="4308750"/>
                <a:gridCol w="2770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Ký tự</a:t>
                      </a:r>
                      <a:endParaRPr b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Ý nghĩa</a:t>
                      </a:r>
                      <a:endParaRPr b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Ví dụ</a:t>
                      </a:r>
                      <a:endParaRPr b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∈ A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sng">
                          <a:solidFill>
                            <a:schemeClr val="hlink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  <a:hlinkClick r:id="rId3"/>
                        </a:rPr>
                        <a:t>Element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of: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phần tử </a:t>
                      </a: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thuộc tập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A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3 ∈ {1, 2, 3, 4}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b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∉ A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Not element of: </a:t>
                      </a: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b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không thuộc tập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A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6 ∉ {1, 2, 3, 4}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Ø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sng">
                          <a:solidFill>
                            <a:schemeClr val="hlink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  <a:hlinkClick r:id="rId4"/>
                        </a:rPr>
                        <a:t>Empty set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= {}: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Tập rỗng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{1, 2} ∩ {3, 4} = Ø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30000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Universal Set: Tập phổ quát - tập của tất cả các phần tử có thể có (trong một giới hạn cho trước)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94" name="Google Shape;1994;p49"/>
          <p:cNvSpPr txBox="1"/>
          <p:nvPr/>
        </p:nvSpPr>
        <p:spPr>
          <a:xfrm>
            <a:off x="2941275" y="976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 = {1, 2, 3, 4} </a:t>
            </a:r>
            <a:r>
              <a:rPr b="1" lang="en" sz="18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và</a:t>
            </a:r>
            <a:r>
              <a:rPr i="1" lang="en" sz="18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D = {3, 4, 5}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1995" name="Google Shape;199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7001" y="3664525"/>
            <a:ext cx="300350" cy="27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50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(Tập hợp/tập)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01" name="Google Shape;2001;p50"/>
          <p:cNvGraphicFramePr/>
          <p:nvPr/>
        </p:nvGraphicFramePr>
        <p:xfrm>
          <a:off x="264150" y="157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{CDCF3779-7479-428E-94E1-A05A03A634DA}</a:tableStyleId>
              </a:tblPr>
              <a:tblGrid>
                <a:gridCol w="1018300"/>
                <a:gridCol w="4066275"/>
                <a:gridCol w="326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Ký tự</a:t>
                      </a:r>
                      <a:endParaRPr b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Ý nghĩa</a:t>
                      </a:r>
                      <a:endParaRPr b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Ví dụ</a:t>
                      </a:r>
                      <a:endParaRPr b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P(A)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sng">
                          <a:solidFill>
                            <a:schemeClr val="hlink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  <a:hlinkClick r:id="rId3"/>
                        </a:rPr>
                        <a:t>Power Set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: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Tập chứa tất cả các tập con của A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P({1, 2}) = { {}, {1}, {2}, {1, 2} 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 = 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Equality: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các phần tử của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2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tập A và B giống nhau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{3, 4, 5} = {5, 3, 4}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A×B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Cartesian Product: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Tích đề-các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(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tập ghép cặp theo thứ tự của các phần tử trong A và B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)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{1, 2} × {3, 4}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= {(1, 3), (1, 4), (2, 3), (2, 4)}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|A|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Cardinality: 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Số lượng các phần tử trong A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|{3, 4}| = 2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|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sng">
                          <a:solidFill>
                            <a:schemeClr val="hlink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  <a:hlinkClick r:id="rId4"/>
                        </a:rPr>
                        <a:t>Such that</a:t>
                      </a:r>
                      <a:endParaRPr sz="1500" u="sng">
                        <a:solidFill>
                          <a:schemeClr val="hlink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{ </a:t>
                      </a: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| </a:t>
                      </a: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&gt; 0 } = {1, 2, 3,...}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: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sng">
                          <a:solidFill>
                            <a:schemeClr val="hlink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  <a:hlinkClick r:id="rId5"/>
                        </a:rPr>
                        <a:t>Such that</a:t>
                      </a:r>
                      <a:endParaRPr sz="1500" u="sng">
                        <a:solidFill>
                          <a:schemeClr val="hlink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{ </a:t>
                      </a: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: </a:t>
                      </a: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&gt; 0 } = {1, 2, 3,...}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02" name="Google Shape;2002;p50"/>
          <p:cNvSpPr txBox="1"/>
          <p:nvPr/>
        </p:nvSpPr>
        <p:spPr>
          <a:xfrm>
            <a:off x="2941275" y="976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 = {1, 2, 3, 4} </a:t>
            </a:r>
            <a:r>
              <a:rPr b="1" lang="en" sz="18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và</a:t>
            </a:r>
            <a:r>
              <a:rPr i="1" lang="en" sz="18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D = {3, 4, 5}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51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(Tập hợp/tập)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08" name="Google Shape;2008;p51"/>
          <p:cNvGraphicFramePr/>
          <p:nvPr/>
        </p:nvGraphicFramePr>
        <p:xfrm>
          <a:off x="264150" y="157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{CDCF3779-7479-428E-94E1-A05A03A634DA}</a:tableStyleId>
              </a:tblPr>
              <a:tblGrid>
                <a:gridCol w="1018300"/>
                <a:gridCol w="2195925"/>
                <a:gridCol w="514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Ký tự</a:t>
                      </a:r>
                      <a:endParaRPr b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Ý nghĩa</a:t>
                      </a:r>
                      <a:endParaRPr b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Ví dụ</a:t>
                      </a:r>
                      <a:endParaRPr b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∀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Với mọi (for all)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∀x&gt;1, x</a:t>
                      </a:r>
                      <a:r>
                        <a:rPr baseline="30000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2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&gt;x: </a:t>
                      </a: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Với mọi</a:t>
                      </a: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x </a:t>
                      </a: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lớn hơn</a:t>
                      </a: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1, </a:t>
                      </a: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x bình phương lớn hơn</a:t>
                      </a: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x</a:t>
                      </a:r>
                      <a:endParaRPr i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∃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Tồn tại (there exists)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∃x | x</a:t>
                      </a:r>
                      <a:r>
                        <a:rPr baseline="30000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2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&gt;x: </a:t>
                      </a: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Tồn tại một số x </a:t>
                      </a:r>
                      <a:r>
                        <a:rPr b="1"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mà</a:t>
                      </a: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</a:t>
                      </a:r>
                      <a:r>
                        <a:rPr b="1"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(such that)</a:t>
                      </a:r>
                      <a:r>
                        <a:rPr i="1"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, x bình phương lớn hơn x</a:t>
                      </a:r>
                      <a:endParaRPr i="1"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∴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Do đó (</a:t>
                      </a: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Therefore)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a=b ∴ b=a</a:t>
                      </a:r>
                      <a:endParaRPr sz="1500">
                        <a:solidFill>
                          <a:srgbClr val="333333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09" name="Google Shape;2009;p51"/>
          <p:cNvSpPr txBox="1"/>
          <p:nvPr/>
        </p:nvSpPr>
        <p:spPr>
          <a:xfrm>
            <a:off x="2941275" y="976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 = {1, 2, 3, 4} </a:t>
            </a:r>
            <a:r>
              <a:rPr b="1" lang="en" sz="18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và</a:t>
            </a:r>
            <a:r>
              <a:rPr i="1" lang="en" sz="1800">
                <a:solidFill>
                  <a:srgbClr val="333333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D = {3, 4, 5}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p52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15" name="Google Shape;2015;p52"/>
          <p:cNvSpPr txBox="1"/>
          <p:nvPr>
            <p:ph idx="1" type="subTitle"/>
          </p:nvPr>
        </p:nvSpPr>
        <p:spPr>
          <a:xfrm>
            <a:off x="1544775" y="988163"/>
            <a:ext cx="80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Strings là các chuỗi được đánh chỉ mục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		—&gt;		indexed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16" name="Google Shape;2016;p52"/>
          <p:cNvSpPr txBox="1"/>
          <p:nvPr>
            <p:ph idx="2" type="subTitle"/>
          </p:nvPr>
        </p:nvSpPr>
        <p:spPr>
          <a:xfrm>
            <a:off x="1544775" y="1526075"/>
            <a:ext cx="50085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nil 						chuỗi rỗng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3 						chuỗi một phần tử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3579 					chuỗi 4 phần tử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len(3579) = 4 				độ dài chuỗi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2017" name="Google Shape;2017;p52"/>
          <p:cNvGraphicFramePr/>
          <p:nvPr/>
        </p:nvGraphicFramePr>
        <p:xfrm>
          <a:off x="1624450" y="329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{CDCF3779-7479-428E-94E1-A05A03A634DA}</a:tableStyleId>
              </a:tblPr>
              <a:tblGrid>
                <a:gridCol w="498325"/>
                <a:gridCol w="498325"/>
                <a:gridCol w="498325"/>
                <a:gridCol w="498325"/>
                <a:gridCol w="498325"/>
                <a:gridCol w="498325"/>
                <a:gridCol w="498325"/>
                <a:gridCol w="49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FF"/>
                          </a:solidFill>
                        </a:rPr>
                        <a:t>0</a:t>
                      </a:r>
                      <a:endParaRPr sz="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FF"/>
                          </a:solidFill>
                        </a:rPr>
                        <a:t>1</a:t>
                      </a:r>
                      <a:endParaRPr sz="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FF"/>
                          </a:solidFill>
                        </a:rPr>
                        <a:t>2</a:t>
                      </a:r>
                      <a:endParaRPr sz="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FF"/>
                          </a:solidFill>
                        </a:rPr>
                        <a:t>3</a:t>
                      </a:r>
                      <a:endParaRPr sz="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FF"/>
                          </a:solidFill>
                        </a:rPr>
                        <a:t>4</a:t>
                      </a:r>
                      <a:endParaRPr sz="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FF"/>
                          </a:solidFill>
                        </a:rPr>
                        <a:t>5</a:t>
                      </a:r>
                      <a:endParaRPr sz="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FF"/>
                          </a:solidFill>
                        </a:rPr>
                        <a:t>6</a:t>
                      </a:r>
                      <a:endParaRPr sz="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FF"/>
                          </a:solidFill>
                        </a:rPr>
                        <a:t>7</a:t>
                      </a:r>
                      <a:endParaRPr sz="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8" name="Google Shape;2018;p52"/>
          <p:cNvSpPr txBox="1"/>
          <p:nvPr>
            <p:ph idx="3" type="subTitle"/>
          </p:nvPr>
        </p:nvSpPr>
        <p:spPr>
          <a:xfrm>
            <a:off x="1544775" y="4167775"/>
            <a:ext cx="302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(3579)[2] = 7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53"/>
          <p:cNvSpPr txBox="1"/>
          <p:nvPr>
            <p:ph idx="4294967295"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String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24" name="Google Shape;2024;p53"/>
          <p:cNvSpPr txBox="1"/>
          <p:nvPr>
            <p:ph idx="1" type="subTitle"/>
          </p:nvPr>
        </p:nvSpPr>
        <p:spPr>
          <a:xfrm>
            <a:off x="723750" y="835775"/>
            <a:ext cx="769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Cho Σ là một tập hợp hữu hạn các ký tự, được gọi là bảng chữ cái (alphabet)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25" name="Google Shape;2025;p53"/>
          <p:cNvSpPr txBox="1"/>
          <p:nvPr>
            <p:ph idx="2" type="subTitle"/>
          </p:nvPr>
        </p:nvSpPr>
        <p:spPr>
          <a:xfrm>
            <a:off x="723750" y="1221275"/>
            <a:ext cx="76965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Một chuỗi (hoặc từ) trên Σ là chuỗi hữu hạn bất kỳ từ Σ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Ví dụ: nếu Σ = {0, 1} thì 01011 là một chuỗi trên Σ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2026" name="Google Shape;2026;p53"/>
          <p:cNvGraphicFramePr/>
          <p:nvPr/>
        </p:nvGraphicFramePr>
        <p:xfrm>
          <a:off x="817434" y="207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{CDCF3779-7479-428E-94E1-A05A03A634DA}</a:tableStyleId>
              </a:tblPr>
              <a:tblGrid>
                <a:gridCol w="1220725"/>
                <a:gridCol w="6440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|s|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Độ dài của chuỗi s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ε hoặc λ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Chuỗi rỗng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Σ</a:t>
                      </a:r>
                      <a:r>
                        <a:rPr baseline="30000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</a:t>
                      </a:r>
                      <a:endParaRPr baseline="30000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tất cả các chuỗi có độ dài = n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Σ</a:t>
                      </a:r>
                      <a:r>
                        <a:rPr baseline="30000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2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= {00, 01, 10, 11}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Σ</a:t>
                      </a:r>
                      <a:r>
                        <a:rPr baseline="30000"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0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= {ε} với mỗi bảng chữ cái Σ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Σ*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Tập tất cả các chuỗi trên Σ có độ dài bất kỳ là bao đóng Kleene của Σ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54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32" name="Google Shape;2032;p54"/>
          <p:cNvSpPr txBox="1"/>
          <p:nvPr>
            <p:ph idx="1" type="subTitle"/>
          </p:nvPr>
        </p:nvSpPr>
        <p:spPr>
          <a:xfrm>
            <a:off x="723750" y="988175"/>
            <a:ext cx="769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Phép nối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(concatenation) và </a:t>
            </a:r>
            <a:r>
              <a:rPr b="1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chuỗi con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(substrings)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33" name="Google Shape;2033;p54"/>
          <p:cNvSpPr txBox="1"/>
          <p:nvPr>
            <p:ph idx="2" type="subTitle"/>
          </p:nvPr>
        </p:nvSpPr>
        <p:spPr>
          <a:xfrm>
            <a:off x="723750" y="1526075"/>
            <a:ext cx="7696500" cy="1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Nếu</a:t>
            </a:r>
            <a:r>
              <a:rPr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 Σ = {a, b, ..., z}, </a:t>
            </a:r>
            <a:r>
              <a:rPr i="1"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s</a:t>
            </a:r>
            <a:r>
              <a:rPr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 = </a:t>
            </a:r>
            <a:r>
              <a:rPr lang="en" sz="1800">
                <a:solidFill>
                  <a:srgbClr val="188038"/>
                </a:solidFill>
                <a:highlight>
                  <a:srgbClr val="F8F8F8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bear</a:t>
            </a:r>
            <a:r>
              <a:rPr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, </a:t>
            </a:r>
            <a:r>
              <a:rPr i="1"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t</a:t>
            </a:r>
            <a:r>
              <a:rPr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 = </a:t>
            </a:r>
            <a:r>
              <a:rPr lang="en" sz="1800">
                <a:solidFill>
                  <a:srgbClr val="188038"/>
                </a:solidFill>
                <a:highlight>
                  <a:srgbClr val="F8F8F8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hug</a:t>
            </a:r>
            <a:r>
              <a:rPr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b="1"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thì</a:t>
            </a:r>
            <a:r>
              <a:rPr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i="1"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st</a:t>
            </a:r>
            <a:r>
              <a:rPr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 = </a:t>
            </a:r>
            <a:r>
              <a:rPr lang="en" sz="1800">
                <a:solidFill>
                  <a:srgbClr val="188038"/>
                </a:solidFill>
                <a:highlight>
                  <a:srgbClr val="F8F8F8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bearhug</a:t>
            </a:r>
            <a:r>
              <a:rPr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 và </a:t>
            </a:r>
            <a:r>
              <a:rPr i="1"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ts</a:t>
            </a:r>
            <a:r>
              <a:rPr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 = </a:t>
            </a:r>
            <a:r>
              <a:rPr lang="en" sz="1800">
                <a:solidFill>
                  <a:srgbClr val="188038"/>
                </a:solidFill>
                <a:highlight>
                  <a:srgbClr val="F8F8F8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hugbear</a:t>
            </a:r>
            <a:endParaRPr sz="1800">
              <a:solidFill>
                <a:srgbClr val="188038"/>
              </a:solidFill>
              <a:highlight>
                <a:srgbClr val="F8F8F8"/>
              </a:highlight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8803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là chuỗi con hoặc thừa số của </a:t>
            </a:r>
            <a:r>
              <a:rPr lang="en" sz="1800">
                <a:solidFill>
                  <a:srgbClr val="18803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(factor of </a:t>
            </a:r>
            <a:r>
              <a:rPr lang="en" sz="1800">
                <a:solidFill>
                  <a:srgbClr val="18803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) nếu tồn tại các chuỗi (có thể trống) </a:t>
            </a:r>
            <a:r>
              <a:rPr lang="en" sz="1800">
                <a:solidFill>
                  <a:srgbClr val="18803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và </a:t>
            </a:r>
            <a:r>
              <a:rPr lang="en" sz="1800">
                <a:solidFill>
                  <a:srgbClr val="18803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sao cho </a:t>
            </a:r>
            <a:r>
              <a:rPr lang="en" sz="1800">
                <a:solidFill>
                  <a:srgbClr val="18803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= </a:t>
            </a:r>
            <a:r>
              <a:rPr lang="en" sz="1800">
                <a:solidFill>
                  <a:srgbClr val="18803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usv</a:t>
            </a:r>
            <a:endParaRPr sz="1800">
              <a:solidFill>
                <a:srgbClr val="188038"/>
              </a:solidFill>
              <a:highlight>
                <a:srgbClr val="F8F8F8"/>
              </a:highlight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34" name="Google Shape;2034;p54"/>
          <p:cNvSpPr txBox="1"/>
          <p:nvPr>
            <p:ph idx="3" type="subTitle"/>
          </p:nvPr>
        </p:nvSpPr>
        <p:spPr>
          <a:xfrm>
            <a:off x="723750" y="2840075"/>
            <a:ext cx="769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Thứ tự trên chuỗi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(string’s lexicographical order):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35" name="Google Shape;2035;p54"/>
          <p:cNvSpPr txBox="1"/>
          <p:nvPr>
            <p:ph idx="4" type="subTitle"/>
          </p:nvPr>
        </p:nvSpPr>
        <p:spPr>
          <a:xfrm>
            <a:off x="723750" y="3299450"/>
            <a:ext cx="7696500" cy="1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Nếu</a:t>
            </a:r>
            <a:r>
              <a:rPr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 Σ = {0, 1} và 0 &lt; 1, </a:t>
            </a:r>
            <a:r>
              <a:rPr b="1"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thì</a:t>
            </a:r>
            <a:r>
              <a:rPr lang="en" sz="1800">
                <a:solidFill>
                  <a:srgbClr val="202122"/>
                </a:solidFill>
                <a:highlight>
                  <a:srgbClr val="FFFFFF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 lexicographical order trên Σ* là ε &lt; 0 &lt; 1 &lt; 00 &lt; 01 &lt; 10 &lt; 11 &lt; 000 &lt; 001 &lt; 010 &lt; 011 &lt; 100 &lt; 101 &lt; 0110 &lt; 111 &lt; 0000 &lt; 0001 &lt; 0010 &lt; 0011 &lt; ... &lt; 1111 &lt; 00000 &lt; 00001 ...</a:t>
            </a:r>
            <a:endParaRPr sz="1800">
              <a:solidFill>
                <a:srgbClr val="188038"/>
              </a:solidFill>
              <a:highlight>
                <a:srgbClr val="F8F8F8"/>
              </a:highlight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55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</a:t>
            </a:r>
            <a:r>
              <a:rPr lang="en"/>
              <a:t> (</a:t>
            </a:r>
            <a:r>
              <a:rPr lang="en"/>
              <a:t>danh sách</a:t>
            </a:r>
            <a:r>
              <a:rPr lang="en"/>
              <a:t>)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41" name="Google Shape;2041;p55"/>
          <p:cNvSpPr txBox="1"/>
          <p:nvPr>
            <p:ph idx="1" type="subTitle"/>
          </p:nvPr>
        </p:nvSpPr>
        <p:spPr>
          <a:xfrm>
            <a:off x="401775" y="988163"/>
            <a:ext cx="80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List là chuỗi các ký tự được đóng gói		—&gt;		packaged &amp; indexed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42" name="Google Shape;2042;p55"/>
          <p:cNvSpPr txBox="1"/>
          <p:nvPr>
            <p:ph idx="2" type="subTitle"/>
          </p:nvPr>
        </p:nvSpPr>
        <p:spPr>
          <a:xfrm>
            <a:off x="401775" y="1449875"/>
            <a:ext cx="8513700" cy="3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[nat; 1; (0,..10)]							hợp các bunch: list of bunches = bunch of lists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–(a, b) = –a, –b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							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phủ định của bunch = bunch các phủ định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(a+b)×(c+d) = a×c + a×d + b×c + b×d			tích các tổng = tổng các tích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[(2, 3); (4, 5)] = [2; 4], [2; 5], [3; 4], [3; 5]		list các bunches  = bunch các lists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p56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(danh sách)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48" name="Google Shape;2048;p56"/>
          <p:cNvSpPr txBox="1"/>
          <p:nvPr>
            <p:ph idx="1" type="subTitle"/>
          </p:nvPr>
        </p:nvSpPr>
        <p:spPr>
          <a:xfrm>
            <a:off x="401775" y="988163"/>
            <a:ext cx="80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List là chuỗi các ký tự được đóng gói		—&gt;		packaged &amp; indexed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49" name="Google Shape;2049;p56"/>
          <p:cNvSpPr txBox="1"/>
          <p:nvPr>
            <p:ph idx="2" type="subTitle"/>
          </p:nvPr>
        </p:nvSpPr>
        <p:spPr>
          <a:xfrm>
            <a:off x="401775" y="1449875"/>
            <a:ext cx="8513700" cy="3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 = 	[[6; 3; 7; 0] ; [4; 9; 2; 5] ; [1; 5; 8; 3]]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A: [3*[4*nat]]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A[1] = [4; 9; 2; 5]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A[1][2] = 2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A(1, 2) = A[1], A[2] = [4; 9; 2; 5], [1; 5; 8; 3]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A[1,2] =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[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A[1], A[2]] = [[4; 9; 2; 5], [1; 5; 8; 3]]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p57"/>
          <p:cNvSpPr txBox="1"/>
          <p:nvPr>
            <p:ph type="title"/>
          </p:nvPr>
        </p:nvSpPr>
        <p:spPr>
          <a:xfrm>
            <a:off x="723750" y="207200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 và List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55" name="Google Shape;2055;p57"/>
          <p:cNvSpPr txBox="1"/>
          <p:nvPr>
            <p:ph idx="1" type="subTitle"/>
          </p:nvPr>
        </p:nvSpPr>
        <p:spPr>
          <a:xfrm>
            <a:off x="401775" y="988163"/>
            <a:ext cx="80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List là chuỗi các ký tự được đóng gói		—&gt;		packaged &amp; indexed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56" name="Google Shape;2056;p57"/>
          <p:cNvSpPr txBox="1"/>
          <p:nvPr>
            <p:ph idx="2" type="subTitle"/>
          </p:nvPr>
        </p:nvSpPr>
        <p:spPr>
          <a:xfrm>
            <a:off x="401775" y="1449875"/>
            <a:ext cx="8513700" cy="3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n, m 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, 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									L (n, m) = L n, L m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{n, m}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= {S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, 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} 									L {n, m} = {L n, L m}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n; m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= 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; 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									L (n; m) = L n; L m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[n; m] 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[S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; 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] 									L [n; m] = [L n; L m]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0, {1, [2; 1]; 0}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										L (0, {1, [2; 1]; 0})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, {S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, [S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2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; 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]; S</a:t>
            </a:r>
            <a:r>
              <a:rPr baseline="-25000"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0</a:t>
            </a: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} 								= L 0, {L 1, [L 2; L 1]; L 0}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58"/>
          <p:cNvSpPr txBox="1"/>
          <p:nvPr>
            <p:ph type="title"/>
          </p:nvPr>
        </p:nvSpPr>
        <p:spPr>
          <a:xfrm>
            <a:off x="2243200" y="1688000"/>
            <a:ext cx="51057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Question?</a:t>
            </a:r>
            <a:endParaRPr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
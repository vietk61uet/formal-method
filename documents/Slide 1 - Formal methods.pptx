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6858000" cy="9144000"/>
  <p:embeddedFontLst>
    <p:embeddedFont>
      <p:font typeface="Fjalla One"/>
      <p:regular r:id="rId45"/>
    </p:embeddedFont>
    <p:embeddedFont>
      <p:font typeface="Barlow Semi Condensed Medium"/>
      <p:regular r:id="rId46"/>
      <p:bold r:id="rId47"/>
      <p:italic r:id="rId48"/>
      <p:boldItalic r:id="rId49"/>
    </p:embeddedFont>
    <p:embeddedFont>
      <p:font typeface="Barlow Semi Condensed"/>
      <p:regular r:id="rId50"/>
      <p:bold r:id="rId51"/>
      <p:italic r:id="rId52"/>
      <p:boldItalic r:id="rId53"/>
    </p:embeddedFont>
    <p:embeddedFont>
      <p:font typeface="Barlow Semi Condensed SemiBol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BarlowSemiCondensedMedium-regular.fntdata"/><Relationship Id="rId45" Type="http://schemas.openxmlformats.org/officeDocument/2006/relationships/font" Target="fonts/FjallaOn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BarlowSemiCondensedMedium-italic.fntdata"/><Relationship Id="rId47" Type="http://schemas.openxmlformats.org/officeDocument/2006/relationships/font" Target="fonts/BarlowSemiCondensedMedium-bold.fntdata"/><Relationship Id="rId49" Type="http://schemas.openxmlformats.org/officeDocument/2006/relationships/font" Target="fonts/BarlowSemiCondensed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BarlowSemiCondensed-bold.fntdata"/><Relationship Id="rId50" Type="http://schemas.openxmlformats.org/officeDocument/2006/relationships/font" Target="fonts/BarlowSemiCondensed-regular.fntdata"/><Relationship Id="rId53" Type="http://schemas.openxmlformats.org/officeDocument/2006/relationships/font" Target="fonts/BarlowSemiCondensed-boldItalic.fntdata"/><Relationship Id="rId52" Type="http://schemas.openxmlformats.org/officeDocument/2006/relationships/font" Target="fonts/BarlowSemiCondensed-italic.fntdata"/><Relationship Id="rId11" Type="http://schemas.openxmlformats.org/officeDocument/2006/relationships/slide" Target="slides/slide7.xml"/><Relationship Id="rId55" Type="http://schemas.openxmlformats.org/officeDocument/2006/relationships/font" Target="fonts/BarlowSemiCondensedSemiBold-bold.fntdata"/><Relationship Id="rId10" Type="http://schemas.openxmlformats.org/officeDocument/2006/relationships/slide" Target="slides/slide6.xml"/><Relationship Id="rId54" Type="http://schemas.openxmlformats.org/officeDocument/2006/relationships/font" Target="fonts/BarlowSemiCondensedSemiBold-regular.fntdata"/><Relationship Id="rId13" Type="http://schemas.openxmlformats.org/officeDocument/2006/relationships/slide" Target="slides/slide9.xml"/><Relationship Id="rId57" Type="http://schemas.openxmlformats.org/officeDocument/2006/relationships/font" Target="fonts/BarlowSemiCondensedSemiBold-boldItalic.fntdata"/><Relationship Id="rId12" Type="http://schemas.openxmlformats.org/officeDocument/2006/relationships/slide" Target="slides/slide8.xml"/><Relationship Id="rId56" Type="http://schemas.openxmlformats.org/officeDocument/2006/relationships/font" Target="fonts/BarlowSemiCondensedSemiBold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26aabc63c7a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26aabc63c7a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2b3d61adc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2b3d61adc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26aabc63c7a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26aabc63c7a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26aabc63c7a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26aabc63c7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26aabc63c7a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26aabc63c7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26aabc63c7a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26aabc63c7a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6aabc63c7a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6aabc63c7a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26aabc63c7a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26aabc63c7a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26aabc63c7a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7" name="Google Shape;1937;g26aabc63c7a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26aabc63c7a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26aabc63c7a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26aabc63c7a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26aabc63c7a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26aabc63c7a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5" name="Google Shape;1955;g26aabc63c7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26aabc63c7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6aabc63c7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26aabc63c7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26aabc63c7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26aabc63c7a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26aabc63c7a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26aabc63c7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7" name="Google Shape;1987;g26aabc63c7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26aabc63c7a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26aabc63c7a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26aabc63c7a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26aabc63c7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26aabc63c7a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26aabc63c7a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26aabc63c7a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26aabc63c7a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26aabc63c7a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26aabc63c7a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26aabc63c7a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26aabc63c7a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26af354ffb4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7" name="Google Shape;2037;g26af354ffb4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26aabc63c7a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5" name="Google Shape;2045;g26aabc63c7a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26aabc63c7a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26aabc63c7a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26af354ff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2" name="Google Shape;2062;g26af354ff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26af354ffb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26af354ffb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26af354ffb4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26af354ffb4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26af354ffb4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26af354ffb4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g26af354ffb4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9" name="Google Shape;2089;g26af354ffb4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26af354ffb4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26af354ffb4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26af354ffb4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26af354ffb4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26af354ffb4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26af354ffb4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g26af354ffb4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8" name="Google Shape;2118;g26af354ffb4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26af354ffb4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26af354ffb4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g33b02cbfe3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5" name="Google Shape;2135;g33b02cbfe3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g33b02cbfe35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1" name="Google Shape;2141;g33b02cbfe35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33b02cbfe35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33b02cbfe35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2b3d61adcc9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2b3d61adcc9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obj">
  <p:cSld name="OBJECT"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84" name="Google Shape;1684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85" name="Google Shape;1685;p33"/>
          <p:cNvSpPr txBox="1"/>
          <p:nvPr>
            <p:ph idx="12" type="sldNum"/>
          </p:nvPr>
        </p:nvSpPr>
        <p:spPr>
          <a:xfrm>
            <a:off x="8021807" y="4873805"/>
            <a:ext cx="340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/81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4"/>
          <p:cNvGrpSpPr/>
          <p:nvPr/>
        </p:nvGrpSpPr>
        <p:grpSpPr>
          <a:xfrm>
            <a:off x="-114459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4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4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4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4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4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4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4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34"/>
          <p:cNvSpPr txBox="1"/>
          <p:nvPr>
            <p:ph type="ctrTitle"/>
          </p:nvPr>
        </p:nvSpPr>
        <p:spPr>
          <a:xfrm>
            <a:off x="3622800" y="1468575"/>
            <a:ext cx="5521200" cy="146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Các phương pháp hình thức </a:t>
            </a:r>
            <a:endParaRPr sz="3900"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(Formal Methods)</a:t>
            </a:r>
            <a:endParaRPr sz="3900">
              <a:solidFill>
                <a:schemeClr val="dk2"/>
              </a:solidFill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</p:txBody>
      </p:sp>
      <p:sp>
        <p:nvSpPr>
          <p:cNvPr id="1885" name="Google Shape;1885;p34"/>
          <p:cNvSpPr txBox="1"/>
          <p:nvPr>
            <p:ph idx="1" type="subTitle"/>
          </p:nvPr>
        </p:nvSpPr>
        <p:spPr>
          <a:xfrm>
            <a:off x="4751256" y="3857533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TS. Lê Khánh Trình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  <p:sp>
        <p:nvSpPr>
          <p:cNvPr id="1886" name="Google Shape;1886;p34"/>
          <p:cNvSpPr txBox="1"/>
          <p:nvPr>
            <p:ph type="ctrTitle"/>
          </p:nvPr>
        </p:nvSpPr>
        <p:spPr>
          <a:xfrm>
            <a:off x="4059375" y="2881750"/>
            <a:ext cx="4904400" cy="6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Binary Theory</a:t>
            </a:r>
            <a:endParaRPr sz="24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35"/>
          <p:cNvSpPr txBox="1"/>
          <p:nvPr>
            <p:ph idx="1" type="subTitle"/>
          </p:nvPr>
        </p:nvSpPr>
        <p:spPr>
          <a:xfrm>
            <a:off x="392300" y="1133325"/>
            <a:ext cx="7078800" cy="30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binary expressions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represent anything that comes in two kinds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theorems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represent one kind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antitheorems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represent the other kind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36"/>
          <p:cNvSpPr txBox="1"/>
          <p:nvPr>
            <p:ph idx="1" type="subTitle"/>
          </p:nvPr>
        </p:nvSpPr>
        <p:spPr>
          <a:xfrm>
            <a:off x="392300" y="1133325"/>
            <a:ext cx="7078800" cy="30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binary expressions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represent anything that comes in two kinds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represent statements about the world (natural or constructed, real or imaginary)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represent digital circuits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represent human behavior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theorems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represent one kind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represent true statements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anti-theorems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represent the other kind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represent false statements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37"/>
          <p:cNvSpPr txBox="1"/>
          <p:nvPr>
            <p:ph idx="1" type="subTitle"/>
          </p:nvPr>
        </p:nvSpPr>
        <p:spPr>
          <a:xfrm>
            <a:off x="874300" y="1124675"/>
            <a:ext cx="7078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 operands: 	T 	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 operands: 	¬x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 operands: 	x∧y 		x∨y 		x⇒y 	x⇐y 	x=y 		x⧧y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38"/>
          <p:cNvSpPr txBox="1"/>
          <p:nvPr>
            <p:ph idx="1" type="subTitle"/>
          </p:nvPr>
        </p:nvSpPr>
        <p:spPr>
          <a:xfrm>
            <a:off x="874300" y="1124675"/>
            <a:ext cx="7078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 operands: 	T 	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 operands: 	¬x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 operands: 	x∧y 		x∨y 		x⇒y 	x⇐y 	x=y 		x⧧y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7" name="Google Shape;1907;p38"/>
          <p:cNvSpPr txBox="1"/>
          <p:nvPr/>
        </p:nvSpPr>
        <p:spPr>
          <a:xfrm>
            <a:off x="1774325" y="2794200"/>
            <a:ext cx="14808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conjuncts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(conjunctions)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8" name="Google Shape;1908;p38"/>
          <p:cNvSpPr/>
          <p:nvPr/>
        </p:nvSpPr>
        <p:spPr>
          <a:xfrm>
            <a:off x="2399525" y="2325275"/>
            <a:ext cx="230400" cy="363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39"/>
          <p:cNvSpPr txBox="1"/>
          <p:nvPr>
            <p:ph idx="1" type="subTitle"/>
          </p:nvPr>
        </p:nvSpPr>
        <p:spPr>
          <a:xfrm>
            <a:off x="874300" y="1124675"/>
            <a:ext cx="7078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 operands: 	T 	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 operands: 	¬x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 operands: 	x∧y 		x∨y 		x⇒y 	x⇐y 	x=y 		x⧧y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4" name="Google Shape;1914;p39"/>
          <p:cNvSpPr txBox="1"/>
          <p:nvPr/>
        </p:nvSpPr>
        <p:spPr>
          <a:xfrm>
            <a:off x="2703425" y="2794200"/>
            <a:ext cx="14808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dis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juncts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(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dis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junctions)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5" name="Google Shape;1915;p39"/>
          <p:cNvSpPr/>
          <p:nvPr/>
        </p:nvSpPr>
        <p:spPr>
          <a:xfrm>
            <a:off x="3328625" y="2325275"/>
            <a:ext cx="230400" cy="363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40"/>
          <p:cNvSpPr txBox="1"/>
          <p:nvPr>
            <p:ph idx="1" type="subTitle"/>
          </p:nvPr>
        </p:nvSpPr>
        <p:spPr>
          <a:xfrm>
            <a:off x="874300" y="1124675"/>
            <a:ext cx="7078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 operands: 	T 	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 operands: 	¬x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 operands: 	x∧y 		x∨y 		x⇒y 	x⇐y 	x=y 		x⧧y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1" name="Google Shape;1921;p40"/>
          <p:cNvSpPr txBox="1"/>
          <p:nvPr/>
        </p:nvSpPr>
        <p:spPr>
          <a:xfrm>
            <a:off x="3171400" y="2794200"/>
            <a:ext cx="24657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implies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(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implication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antecedent ⇒ consequent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2" name="Google Shape;1922;p40"/>
          <p:cNvSpPr/>
          <p:nvPr/>
        </p:nvSpPr>
        <p:spPr>
          <a:xfrm>
            <a:off x="4270550" y="2325275"/>
            <a:ext cx="230400" cy="363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41"/>
          <p:cNvSpPr txBox="1"/>
          <p:nvPr>
            <p:ph idx="1" type="subTitle"/>
          </p:nvPr>
        </p:nvSpPr>
        <p:spPr>
          <a:xfrm>
            <a:off x="874300" y="1124675"/>
            <a:ext cx="7078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 operands: 	T 	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 operands: 	¬x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 operands: 	x∧y 		x∨y 		x⇒y 	x⇐y 	x=y 		x⧧y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8" name="Google Shape;1928;p41"/>
          <p:cNvSpPr txBox="1"/>
          <p:nvPr/>
        </p:nvSpPr>
        <p:spPr>
          <a:xfrm>
            <a:off x="4931626" y="2794200"/>
            <a:ext cx="24657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equal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(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equation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9" name="Google Shape;1929;p41"/>
          <p:cNvSpPr/>
          <p:nvPr/>
        </p:nvSpPr>
        <p:spPr>
          <a:xfrm>
            <a:off x="6030776" y="2325275"/>
            <a:ext cx="230400" cy="363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42"/>
          <p:cNvSpPr txBox="1"/>
          <p:nvPr>
            <p:ph idx="1" type="subTitle"/>
          </p:nvPr>
        </p:nvSpPr>
        <p:spPr>
          <a:xfrm>
            <a:off x="874300" y="558225"/>
            <a:ext cx="70788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 operands: 	T 	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 operands: 	¬x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 operands: 	x∧y 		x∨y 		x⇒y 	x</a:t>
            </a:r>
            <a:r>
              <a:rPr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⇐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 	x=y 		x⧧y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3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operands: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x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y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z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43"/>
          <p:cNvSpPr txBox="1"/>
          <p:nvPr>
            <p:ph idx="1" type="subTitle"/>
          </p:nvPr>
        </p:nvSpPr>
        <p:spPr>
          <a:xfrm>
            <a:off x="874300" y="558225"/>
            <a:ext cx="70788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 operands: 	T 	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 operands: 	¬x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 operands: 	x∧y 		x∨y 		x⇒y 	x</a:t>
            </a:r>
            <a:r>
              <a:rPr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⇐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 	x=y 		x⧧y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3 operands: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x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y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z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0" name="Google Shape;1940;p43"/>
          <p:cNvSpPr txBox="1"/>
          <p:nvPr>
            <p:ph idx="2" type="subTitle"/>
          </p:nvPr>
        </p:nvSpPr>
        <p:spPr>
          <a:xfrm>
            <a:off x="874300" y="2105200"/>
            <a:ext cx="7078800" cy="2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associative operators:	∧	∨	=	⧧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∧ y ∧ z 	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tương đương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(x ∧ y) ∧ z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hoặc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 ∧ (y ∧ z)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∨ y ∨ z 	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tương đương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(x ∨ y) ∨ z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hoặc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 ∨ (y ∨ z)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44"/>
          <p:cNvSpPr txBox="1"/>
          <p:nvPr>
            <p:ph idx="1" type="subTitle"/>
          </p:nvPr>
        </p:nvSpPr>
        <p:spPr>
          <a:xfrm>
            <a:off x="874300" y="558225"/>
            <a:ext cx="70788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 operands: 	T 	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 operands: 	¬x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 operands: 	x∧y 		x∨y 		x⇒y 	x</a:t>
            </a:r>
            <a:r>
              <a:rPr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⇐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 	x=y 		x⧧y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3 operands: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x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y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z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6" name="Google Shape;1946;p44"/>
          <p:cNvSpPr txBox="1"/>
          <p:nvPr>
            <p:ph idx="2" type="subTitle"/>
          </p:nvPr>
        </p:nvSpPr>
        <p:spPr>
          <a:xfrm>
            <a:off x="874300" y="2105200"/>
            <a:ext cx="7078800" cy="2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associative operators:	∧	∨	=	⧧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∧ y ∧ z 	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tương đương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(x ∧ y) ∧ z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hoặc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 ∧ (y ∧ z)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∨ y ∨ z 	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tương đương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(x ∨ y) ∨ z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hoặc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 ∨ (y ∨ z)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continuing operators:	⇒	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⇐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	=	⧧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= y = z 	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tương đương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x = y ∧ y = z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 ⇒ z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tương đương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(x ⇒ y) ∧ (y ⇒ z)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45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Variables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2" name="Google Shape;1952;p45"/>
          <p:cNvSpPr txBox="1"/>
          <p:nvPr>
            <p:ph idx="1" type="subTitle"/>
          </p:nvPr>
        </p:nvSpPr>
        <p:spPr>
          <a:xfrm>
            <a:off x="874300" y="1099625"/>
            <a:ext cx="76131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Biểu diễn một giá trị có thể được khởi tạo hoặc thay thế giá trị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Sử dụng dấu ngoặc (parentheses) để xác định thứ tự ưu tiên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Trong 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∧ q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thay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bằng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q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bằng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F∨T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kết quả: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∧ (F∨T)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Thay cùng giá trị tất cả các biến giống nhau trong biểu thức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Trong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∧ x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thay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bằng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kết quả: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∧ F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4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Truth table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958" name="Google Shape;19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00" y="1234950"/>
            <a:ext cx="1353800" cy="93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9" name="Google Shape;195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4208" y="1273925"/>
            <a:ext cx="1602579" cy="13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0" name="Google Shape;196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4364" y="1234950"/>
            <a:ext cx="1479824" cy="13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1" name="Google Shape;196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750" y="3261420"/>
            <a:ext cx="1641075" cy="1352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2" name="Google Shape;196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54862" y="3310553"/>
            <a:ext cx="1602575" cy="125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6825" y="2822712"/>
            <a:ext cx="2174889" cy="209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47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Áp dụng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69" name="Google Shape;1969;p47"/>
          <p:cNvSpPr txBox="1"/>
          <p:nvPr>
            <p:ph idx="1" type="subTitle"/>
          </p:nvPr>
        </p:nvSpPr>
        <p:spPr>
          <a:xfrm>
            <a:off x="874300" y="1222450"/>
            <a:ext cx="76131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Cỏ màu xanh lá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Người ngoài hành tinh đã viếng thăm Trái Đất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 người đã đặt chân lên vùng tối của mặt trăng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Tồn tại sự sống thông minh ngoài vũ trụ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48"/>
          <p:cNvSpPr txBox="1"/>
          <p:nvPr>
            <p:ph idx="1" type="subTitle"/>
          </p:nvPr>
        </p:nvSpPr>
        <p:spPr>
          <a:xfrm>
            <a:off x="874300" y="1222450"/>
            <a:ext cx="76131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Cỏ màu xanh lá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Người ngoài hành tinh đã viếng thăm Trái Đất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 người đã đặt chân lên vùng tối của mặt trăng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Tồn tại sự sống thông minh ngoài vũ trụ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75" name="Google Shape;1975;p48"/>
          <p:cNvSpPr txBox="1"/>
          <p:nvPr>
            <p:ph idx="2" type="subTitle"/>
          </p:nvPr>
        </p:nvSpPr>
        <p:spPr>
          <a:xfrm>
            <a:off x="874300" y="2637675"/>
            <a:ext cx="7613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+ 1 = 2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0/0 = 8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76" name="Google Shape;1976;p48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Áp dụng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49"/>
          <p:cNvSpPr txBox="1"/>
          <p:nvPr>
            <p:ph idx="1" type="subTitle"/>
          </p:nvPr>
        </p:nvSpPr>
        <p:spPr>
          <a:xfrm>
            <a:off x="846350" y="3461575"/>
            <a:ext cx="80670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Tính nhất quán (consistency)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không có biểu thức nào vừa là định lý và phản định lý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2" name="Google Shape;1982;p49"/>
          <p:cNvSpPr txBox="1"/>
          <p:nvPr>
            <p:ph idx="2" type="subTitle"/>
          </p:nvPr>
        </p:nvSpPr>
        <p:spPr>
          <a:xfrm>
            <a:off x="874300" y="1222450"/>
            <a:ext cx="76131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Cỏ màu xanh lá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Người ngoài hành tinh đã viếng thăm Trái Đất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 người đã đặt chân lên vùng tối của mặt trăng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Tồn tại sự sống thông minh ngoài vũ trụ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3" name="Google Shape;1983;p49"/>
          <p:cNvSpPr txBox="1"/>
          <p:nvPr>
            <p:ph idx="3" type="subTitle"/>
          </p:nvPr>
        </p:nvSpPr>
        <p:spPr>
          <a:xfrm>
            <a:off x="874300" y="2637675"/>
            <a:ext cx="7613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+ 1 = 2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0/0 = 8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4" name="Google Shape;1984;p49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Áp dụng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50"/>
          <p:cNvSpPr txBox="1"/>
          <p:nvPr>
            <p:ph idx="1" type="subTitle"/>
          </p:nvPr>
        </p:nvSpPr>
        <p:spPr>
          <a:xfrm>
            <a:off x="874300" y="1222450"/>
            <a:ext cx="76131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Cỏ màu xanh lá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Người ngoài hành tinh đã viếng thăm Trái Đất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 người đã đặt chân lên vùng tối của mặt trăng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Tồn tại sự sống thông minh ngoài vũ trụ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0" name="Google Shape;1990;p50"/>
          <p:cNvSpPr txBox="1"/>
          <p:nvPr>
            <p:ph idx="2" type="subTitle"/>
          </p:nvPr>
        </p:nvSpPr>
        <p:spPr>
          <a:xfrm>
            <a:off x="874300" y="2637675"/>
            <a:ext cx="7613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+ 1 = 2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0/0 = 8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1" name="Google Shape;1991;p50"/>
          <p:cNvSpPr txBox="1"/>
          <p:nvPr>
            <p:ph idx="3" type="subTitle"/>
          </p:nvPr>
        </p:nvSpPr>
        <p:spPr>
          <a:xfrm>
            <a:off x="846350" y="3461575"/>
            <a:ext cx="80670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Tính nhất quán (consistency)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không có biểu thức nào vừa là định lý và phản định lý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2" name="Google Shape;1992;p50"/>
          <p:cNvSpPr txBox="1"/>
          <p:nvPr>
            <p:ph idx="4" type="subTitle"/>
          </p:nvPr>
        </p:nvSpPr>
        <p:spPr>
          <a:xfrm>
            <a:off x="853344" y="3929600"/>
            <a:ext cx="80670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Tính hoàn chỉnh (completeness)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mọi biểu thức nhị phân hoặc là định lý hoặc là phản định lý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3" name="Google Shape;1993;p50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Áp dụng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51"/>
          <p:cNvSpPr txBox="1"/>
          <p:nvPr>
            <p:ph idx="1" type="subTitle"/>
          </p:nvPr>
        </p:nvSpPr>
        <p:spPr>
          <a:xfrm>
            <a:off x="507200" y="1114450"/>
            <a:ext cx="75051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Tiên đề (Axiom)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Chứng minh thông qua suy luận từ những điều hiển nhiên đúng hoặc được công nhận là đúng (tiên đề)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9" name="Google Shape;1999;p51"/>
          <p:cNvSpPr txBox="1"/>
          <p:nvPr>
            <p:ph idx="2" type="subTitle"/>
          </p:nvPr>
        </p:nvSpPr>
        <p:spPr>
          <a:xfrm>
            <a:off x="574350" y="2075425"/>
            <a:ext cx="7995300" cy="25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x+y = y+x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là một biểu thức toán học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biểu diễn sự thật rằng: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Tổng của x và y không phụ thuộc vào việc cộng x vào y hay cộng y vào 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là một tiên đề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là một định lý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True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0" name="Google Shape;2000;p51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52"/>
          <p:cNvSpPr txBox="1"/>
          <p:nvPr>
            <p:ph idx="1" type="subTitle"/>
          </p:nvPr>
        </p:nvSpPr>
        <p:spPr>
          <a:xfrm>
            <a:off x="507200" y="1114450"/>
            <a:ext cx="75051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Tiên đề (Axiom)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Chứng minh thông qua suy luận từ những điều hiển nhiên đúng hoặc được công nhận là đúng (tiên đề)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6" name="Google Shape;2006;p52"/>
          <p:cNvSpPr txBox="1"/>
          <p:nvPr/>
        </p:nvSpPr>
        <p:spPr>
          <a:xfrm>
            <a:off x="507200" y="1945825"/>
            <a:ext cx="61431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axiom: T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anti-axiom: F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axiom: (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cỏ màu xanh lá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axiom: (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Người ngoài hành tinh đã viếng thăm Trái Đất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13716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⇒ (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Tồn tại sự sống thông minh ngoài vũ trụ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7" name="Google Shape;2007;p52"/>
          <p:cNvSpPr txBox="1"/>
          <p:nvPr>
            <p:ph idx="2" type="subTitle"/>
          </p:nvPr>
        </p:nvSpPr>
        <p:spPr>
          <a:xfrm>
            <a:off x="507200" y="3971525"/>
            <a:ext cx="75051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Đánh giá (Evaluation rule)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Nếu biết giá trị của các biểu thức nhị phân con hoặc các biến, thì có thể tính được giá trị của biểu thức sử dụng bảng chân lý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8" name="Google Shape;2008;p52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53"/>
          <p:cNvSpPr txBox="1"/>
          <p:nvPr>
            <p:ph idx="1" type="subTitle"/>
          </p:nvPr>
        </p:nvSpPr>
        <p:spPr>
          <a:xfrm>
            <a:off x="507200" y="1114450"/>
            <a:ext cx="7617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Hoàn chỉnh (Completion)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Một biểu thức là hoàn chỉnh nếu có thể chứng minh với mọi giá trị của các thành phần con bên trong, biểu thức đó trả về giá trị True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4" name="Google Shape;2014;p53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54"/>
          <p:cNvSpPr txBox="1"/>
          <p:nvPr>
            <p:ph idx="1" type="subTitle"/>
          </p:nvPr>
        </p:nvSpPr>
        <p:spPr>
          <a:xfrm>
            <a:off x="507200" y="1114450"/>
            <a:ext cx="76098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Hoàn chỉnh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Completion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biểu thức là hoàn chỉnh nếu có thể chứng minh với mọi giá trị của các thành phần con bên trong, biểu thức đó trả về giá trị True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20" name="Google Shape;2020;p54"/>
          <p:cNvSpPr txBox="1"/>
          <p:nvPr/>
        </p:nvSpPr>
        <p:spPr>
          <a:xfrm>
            <a:off x="507200" y="1926775"/>
            <a:ext cx="72396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Định lý (theorem):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(Tồn tại sự sống thông minh ngoài vũ trụ)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∨ T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Định lý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		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(Tồn tại sự sống thông minh ngoài vũ trụ)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∨ ¬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(Tồn tại sự sống thông minh ngoài vũ trụ)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Phản định lý: 	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(Tồn tại sự sống thông minh ngoài vũ trụ)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∧ ¬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(Tồn tại sự sống thông minh ngoài vũ trụ)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21" name="Google Shape;2021;p54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55"/>
          <p:cNvSpPr txBox="1"/>
          <p:nvPr>
            <p:ph idx="1" type="subTitle"/>
          </p:nvPr>
        </p:nvSpPr>
        <p:spPr>
          <a:xfrm>
            <a:off x="507200" y="1114450"/>
            <a:ext cx="7617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Nhất quán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Consistency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Với mọi cách suy diễn (derive) có thể, kết quả trả về không thay đổi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27" name="Google Shape;2027;p55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56"/>
          <p:cNvSpPr txBox="1"/>
          <p:nvPr>
            <p:ph idx="1" type="subTitle"/>
          </p:nvPr>
        </p:nvSpPr>
        <p:spPr>
          <a:xfrm>
            <a:off x="507200" y="1114450"/>
            <a:ext cx="7617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Nhất quán (Consistency)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Với mọi cách suy diễn (derive) có thể, kết quả trả về không thay đổi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33" name="Google Shape;2033;p56"/>
          <p:cNvSpPr txBox="1"/>
          <p:nvPr/>
        </p:nvSpPr>
        <p:spPr>
          <a:xfrm>
            <a:off x="507200" y="1842949"/>
            <a:ext cx="8098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Giả sử: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2 định lý.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có phải là định lý không?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34" name="Google Shape;2034;p56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57"/>
          <p:cNvSpPr txBox="1"/>
          <p:nvPr>
            <p:ph idx="1" type="subTitle"/>
          </p:nvPr>
        </p:nvSpPr>
        <p:spPr>
          <a:xfrm>
            <a:off x="507200" y="1114450"/>
            <a:ext cx="7617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Nhất quán (Consistency)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Với mọi cách suy diễn (derive) có thể, kết quả trả về không thay đổi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0" name="Google Shape;2040;p57"/>
          <p:cNvSpPr txBox="1"/>
          <p:nvPr/>
        </p:nvSpPr>
        <p:spPr>
          <a:xfrm>
            <a:off x="507200" y="1842949"/>
            <a:ext cx="8098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Giả sử: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2 định lý.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có phải là định lý không?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1" name="Google Shape;2041;p57"/>
          <p:cNvSpPr txBox="1"/>
          <p:nvPr/>
        </p:nvSpPr>
        <p:spPr>
          <a:xfrm>
            <a:off x="507200" y="2194181"/>
            <a:ext cx="8098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= True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 = True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. Giá trị của y là gì?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2" name="Google Shape;2042;p57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58"/>
          <p:cNvSpPr txBox="1"/>
          <p:nvPr>
            <p:ph idx="1" type="subTitle"/>
          </p:nvPr>
        </p:nvSpPr>
        <p:spPr>
          <a:xfrm>
            <a:off x="507200" y="1114450"/>
            <a:ext cx="7617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Nhất quán (Consistency)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Với mọi cách suy diễn (derive) có thể, kết quả trả về không thay đổi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8" name="Google Shape;2048;p58"/>
          <p:cNvSpPr txBox="1"/>
          <p:nvPr/>
        </p:nvSpPr>
        <p:spPr>
          <a:xfrm>
            <a:off x="507200" y="1842949"/>
            <a:ext cx="8098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Giả sử: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2 định lý.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có phải là định lý không?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9" name="Google Shape;2049;p58"/>
          <p:cNvSpPr txBox="1"/>
          <p:nvPr/>
        </p:nvSpPr>
        <p:spPr>
          <a:xfrm>
            <a:off x="507200" y="2194181"/>
            <a:ext cx="8098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= True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 = True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. Giá trị của y là gì?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 = False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dựa vào quy tắc đánh giá (evaluation) thì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 = False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Mâu thuẫn (không nhất quán - inconsistent). Do đó, y là một định lý (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 = True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50" name="Google Shape;2050;p58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59"/>
          <p:cNvSpPr txBox="1"/>
          <p:nvPr/>
        </p:nvSpPr>
        <p:spPr>
          <a:xfrm>
            <a:off x="507200" y="1842949"/>
            <a:ext cx="8098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Giả sử: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2 định lý.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có phải là định lý không?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56" name="Google Shape;2056;p59"/>
          <p:cNvSpPr txBox="1"/>
          <p:nvPr/>
        </p:nvSpPr>
        <p:spPr>
          <a:xfrm>
            <a:off x="507200" y="2194181"/>
            <a:ext cx="8098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= True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 = True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. Giá trị của y là gì?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 = False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dựa vào quy tắc đánh giá (evaluation) thì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 ⇒ y = False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Mâu thuẫn (không nhất quán - inconsistent). Do đó, y là một định lý (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 = True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57" name="Google Shape;2057;p59"/>
          <p:cNvSpPr txBox="1"/>
          <p:nvPr/>
        </p:nvSpPr>
        <p:spPr>
          <a:xfrm>
            <a:off x="507200" y="3265832"/>
            <a:ext cx="8098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Giả sử: ¬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một định lý.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gì?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58" name="Google Shape;2058;p59"/>
          <p:cNvSpPr txBox="1"/>
          <p:nvPr>
            <p:ph idx="1" type="subTitle"/>
          </p:nvPr>
        </p:nvSpPr>
        <p:spPr>
          <a:xfrm>
            <a:off x="507200" y="1114450"/>
            <a:ext cx="7617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Nhất quán (Consistency)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Với mọi cách suy diễn (derive) có thể, kết quả trả về không thay đổi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59" name="Google Shape;2059;p59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60"/>
          <p:cNvSpPr txBox="1"/>
          <p:nvPr>
            <p:ph idx="1" type="subTitle"/>
          </p:nvPr>
        </p:nvSpPr>
        <p:spPr>
          <a:xfrm>
            <a:off x="507200" y="1114450"/>
            <a:ext cx="7617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Cụ thể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Instance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một biểu thức là định lý thì khi thay các giá trị cụ thể vào, biểu thức cũng là định lý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65" name="Google Shape;2065;p60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61"/>
          <p:cNvSpPr txBox="1"/>
          <p:nvPr>
            <p:ph idx="1" type="subTitle"/>
          </p:nvPr>
        </p:nvSpPr>
        <p:spPr>
          <a:xfrm>
            <a:off x="507200" y="1114450"/>
            <a:ext cx="7617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Cụ thể (Instance)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Nếu một biểu thức là định lý thì khi thay các giá trị cụ thể vào, biểu thức cũng là định lý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71" name="Google Shape;2071;p61"/>
          <p:cNvSpPr txBox="1"/>
          <p:nvPr/>
        </p:nvSpPr>
        <p:spPr>
          <a:xfrm>
            <a:off x="507200" y="2194181"/>
            <a:ext cx="80988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axiom: x = 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theorem: x = 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theorem: (T = F ∨ F) = (T = F ∨ F)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theorem: 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(Người ngoài hành tinh đã viếng thăm Trái Đất)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18288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(Người ngoài hành tinh đã viếng thăm Trái Đất)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72" name="Google Shape;2072;p61"/>
          <p:cNvSpPr txBox="1"/>
          <p:nvPr>
            <p:ph idx="4294967295" type="title"/>
          </p:nvPr>
        </p:nvSpPr>
        <p:spPr>
          <a:xfrm>
            <a:off x="507200" y="3592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quy tắc chứng minh định lý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62"/>
          <p:cNvSpPr txBox="1"/>
          <p:nvPr>
            <p:ph idx="4294967295" type="title"/>
          </p:nvPr>
        </p:nvSpPr>
        <p:spPr>
          <a:xfrm>
            <a:off x="824275" y="3592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Lưu ý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78" name="Google Shape;2078;p62"/>
          <p:cNvSpPr txBox="1"/>
          <p:nvPr>
            <p:ph idx="1" type="subTitle"/>
          </p:nvPr>
        </p:nvSpPr>
        <p:spPr>
          <a:xfrm>
            <a:off x="824275" y="111445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a∧b   ∨  c 					a   ∧   b∨c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79" name="Google Shape;2079;p62"/>
          <p:cNvSpPr txBox="1"/>
          <p:nvPr>
            <p:ph idx="2" type="subTitle"/>
          </p:nvPr>
        </p:nvSpPr>
        <p:spPr>
          <a:xfrm>
            <a:off x="824275" y="182570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Sử dụng dấu đóng mở ngoặc (parenthesis, brackets) để làm rõ độ ưu tiên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80" name="Google Shape;2080;p62"/>
          <p:cNvSpPr txBox="1"/>
          <p:nvPr>
            <p:ph idx="3" type="subTitle"/>
          </p:nvPr>
        </p:nvSpPr>
        <p:spPr>
          <a:xfrm>
            <a:off x="824275" y="253695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a∧b) ∨ c 					a ∧ (b∨c)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63"/>
          <p:cNvSpPr txBox="1"/>
          <p:nvPr>
            <p:ph idx="4294967295" type="title"/>
          </p:nvPr>
        </p:nvSpPr>
        <p:spPr>
          <a:xfrm>
            <a:off x="824275" y="3592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Thực hành chứng minh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86" name="Google Shape;2086;p63"/>
          <p:cNvSpPr txBox="1"/>
          <p:nvPr>
            <p:ph idx="1" type="subTitle"/>
          </p:nvPr>
        </p:nvSpPr>
        <p:spPr>
          <a:xfrm>
            <a:off x="824275" y="103825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⇒ (b ⇒ 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64"/>
          <p:cNvSpPr txBox="1"/>
          <p:nvPr>
            <p:ph idx="4294967295" type="title"/>
          </p:nvPr>
        </p:nvSpPr>
        <p:spPr>
          <a:xfrm>
            <a:off x="824275" y="3592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Thực hành chứng minh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92" name="Google Shape;2092;p64"/>
          <p:cNvSpPr txBox="1"/>
          <p:nvPr>
            <p:ph idx="1" type="subTitle"/>
          </p:nvPr>
        </p:nvSpPr>
        <p:spPr>
          <a:xfrm>
            <a:off x="824275" y="103825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⇒ (b ⇒ 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93" name="Google Shape;2093;p64"/>
          <p:cNvSpPr txBox="1"/>
          <p:nvPr>
            <p:ph idx="2" type="subTitle"/>
          </p:nvPr>
        </p:nvSpPr>
        <p:spPr>
          <a:xfrm>
            <a:off x="824275" y="1360234"/>
            <a:ext cx="78798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						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¬(a ∧ b) ∨ c 						x ⇒ y = ¬x ∨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65"/>
          <p:cNvSpPr txBox="1"/>
          <p:nvPr>
            <p:ph idx="4294967295" type="title"/>
          </p:nvPr>
        </p:nvSpPr>
        <p:spPr>
          <a:xfrm>
            <a:off x="824275" y="3592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Thực hành chứng minh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99" name="Google Shape;2099;p65"/>
          <p:cNvSpPr txBox="1"/>
          <p:nvPr>
            <p:ph idx="1" type="subTitle"/>
          </p:nvPr>
        </p:nvSpPr>
        <p:spPr>
          <a:xfrm>
            <a:off x="824275" y="103825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⇒ (b ⇒ 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0" name="Google Shape;2100;p65"/>
          <p:cNvSpPr txBox="1"/>
          <p:nvPr>
            <p:ph idx="2" type="subTitle"/>
          </p:nvPr>
        </p:nvSpPr>
        <p:spPr>
          <a:xfrm>
            <a:off x="824275" y="1360234"/>
            <a:ext cx="78798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						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¬(a ∧ b) ∨ c 						x ⇒ y = ¬x ∨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¬a ∨ ¬b ∨ c 						¬(x ∧ y) = ¬x ∨ ¬y  	—  De Morgan's law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66"/>
          <p:cNvSpPr txBox="1"/>
          <p:nvPr>
            <p:ph idx="4294967295" type="title"/>
          </p:nvPr>
        </p:nvSpPr>
        <p:spPr>
          <a:xfrm>
            <a:off x="824275" y="3592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Thực hành chứng minh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6" name="Google Shape;2106;p66"/>
          <p:cNvSpPr txBox="1"/>
          <p:nvPr>
            <p:ph idx="1" type="subTitle"/>
          </p:nvPr>
        </p:nvSpPr>
        <p:spPr>
          <a:xfrm>
            <a:off x="824275" y="103825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⇒ (b ⇒ 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7" name="Google Shape;2107;p66"/>
          <p:cNvSpPr txBox="1"/>
          <p:nvPr>
            <p:ph idx="2" type="subTitle"/>
          </p:nvPr>
        </p:nvSpPr>
        <p:spPr>
          <a:xfrm>
            <a:off x="824275" y="1360234"/>
            <a:ext cx="78798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						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¬(a ∧ b) ∨ c 						x ⇒ y = ¬x ∨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¬a ∨ ¬b ∨ c 						¬(x ∧ y) = ¬x ∨ ¬y  	—  De Morgan's law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a ⇒ ¬b ∨ c 						¬x ∨ y = x ⇒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a ⇒ (b ⇒ c)						¬x ∨ y = x ⇒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67"/>
          <p:cNvSpPr txBox="1"/>
          <p:nvPr>
            <p:ph idx="4294967295" type="title"/>
          </p:nvPr>
        </p:nvSpPr>
        <p:spPr>
          <a:xfrm>
            <a:off x="824275" y="3592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Thực hành chứng minh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13" name="Google Shape;2113;p67"/>
          <p:cNvSpPr txBox="1"/>
          <p:nvPr>
            <p:ph idx="1" type="subTitle"/>
          </p:nvPr>
        </p:nvSpPr>
        <p:spPr>
          <a:xfrm>
            <a:off x="824275" y="103825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⇒ (b ⇒ 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14" name="Google Shape;2114;p67"/>
          <p:cNvSpPr txBox="1"/>
          <p:nvPr>
            <p:ph idx="2" type="subTitle"/>
          </p:nvPr>
        </p:nvSpPr>
        <p:spPr>
          <a:xfrm>
            <a:off x="824275" y="1360234"/>
            <a:ext cx="78798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						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¬(a ∧ b) ∨ c 						x ⇒ y = ¬x ∨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¬a ∨ ¬b ∨ c 						¬(x ∧ y) = ¬x ∨ ¬y  	—  De Morgan's law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a ⇒ ¬b ∨ c 						¬x ∨ y = x ⇒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a ⇒ (b ⇒ c)						¬x ∨ y = x ⇒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15" name="Google Shape;2115;p67"/>
          <p:cNvSpPr txBox="1"/>
          <p:nvPr>
            <p:ph idx="3" type="subTitle"/>
          </p:nvPr>
        </p:nvSpPr>
        <p:spPr>
          <a:xfrm>
            <a:off x="824275" y="3221575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(a ∧ b ⇒ c) = (a ⇒ (b ⇒ c))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68"/>
          <p:cNvSpPr txBox="1"/>
          <p:nvPr>
            <p:ph idx="4294967295" type="title"/>
          </p:nvPr>
        </p:nvSpPr>
        <p:spPr>
          <a:xfrm>
            <a:off x="824275" y="3592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Thực hành chứng minh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21" name="Google Shape;2121;p68"/>
          <p:cNvSpPr txBox="1"/>
          <p:nvPr>
            <p:ph idx="1" type="subTitle"/>
          </p:nvPr>
        </p:nvSpPr>
        <p:spPr>
          <a:xfrm>
            <a:off x="824275" y="1038250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⇒ (b ⇒ 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22" name="Google Shape;2122;p68"/>
          <p:cNvSpPr txBox="1"/>
          <p:nvPr>
            <p:ph idx="2" type="subTitle"/>
          </p:nvPr>
        </p:nvSpPr>
        <p:spPr>
          <a:xfrm>
            <a:off x="824275" y="1360234"/>
            <a:ext cx="78798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∧ b ⇒ c 						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¬(a ∧ b) ∨ c 						x ⇒ y = ¬x ∨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¬a ∨ ¬b ∨ c 						¬(x ∧ y) = ¬x ∨ ¬y  	—  De Morgan's law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a ⇒ ¬b ∨ c 						¬x ∨ y = x ⇒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a ⇒ (b ⇒ c)						¬x ∨ y = x ⇒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23" name="Google Shape;2123;p68"/>
          <p:cNvSpPr txBox="1"/>
          <p:nvPr>
            <p:ph idx="3" type="subTitle"/>
          </p:nvPr>
        </p:nvSpPr>
        <p:spPr>
          <a:xfrm>
            <a:off x="824275" y="3221575"/>
            <a:ext cx="7299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(a ∧ b ⇒ c) = (a ⇒ (b ⇒ c))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24" name="Google Shape;2124;p68"/>
          <p:cNvSpPr txBox="1"/>
          <p:nvPr>
            <p:ph idx="4" type="subTitle"/>
          </p:nvPr>
        </p:nvSpPr>
        <p:spPr>
          <a:xfrm>
            <a:off x="859200" y="3581619"/>
            <a:ext cx="78798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(¬(a ∧ b) ∨ c) = (¬a ∨ (¬b ∨ c)) 			x ⇒ y = ¬x ∨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(¬a ∨ ¬b ∨ c) = (¬a ∨ ¬b ∨ c) 			¬(x ∧ y) = ¬x ∨ ¬y  	—  De Morgan's law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T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69"/>
          <p:cNvSpPr txBox="1"/>
          <p:nvPr>
            <p:ph idx="4294967295" type="title"/>
          </p:nvPr>
        </p:nvSpPr>
        <p:spPr>
          <a:xfrm>
            <a:off x="824275" y="544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Bài tập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30" name="Google Shape;2130;p69"/>
          <p:cNvSpPr txBox="1"/>
          <p:nvPr>
            <p:ph idx="1" type="subTitle"/>
          </p:nvPr>
        </p:nvSpPr>
        <p:spPr>
          <a:xfrm>
            <a:off x="874300" y="627175"/>
            <a:ext cx="3268200" cy="3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Hoàn thành các biểu thức sau của Lý thuyết nhị phân: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(a) ⊤ =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(b) ⊥ =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(c) ¬a =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(d) a∧b =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(e) a∨b =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(f) a=b =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(g) a⧧b =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(h) a⇒b =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31" name="Google Shape;2131;p69"/>
          <p:cNvSpPr txBox="1"/>
          <p:nvPr>
            <p:ph idx="2" type="subTitle"/>
          </p:nvPr>
        </p:nvSpPr>
        <p:spPr>
          <a:xfrm>
            <a:off x="4680100" y="1413625"/>
            <a:ext cx="3268200" cy="27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chỉ sử dụng các ký hiệu sau (không giới hạn số lượng):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(i) ¬ ∧ a b ( 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(ii) ¬ ∨ a b ( 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(iii) ¬ ⇒ a b ( 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(iv) ⧧ ⇒ a b ( 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(v) ¬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 then else fi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b ( 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32" name="Google Shape;2132;p69"/>
          <p:cNvSpPr txBox="1"/>
          <p:nvPr>
            <p:ph idx="3" type="subTitle"/>
          </p:nvPr>
        </p:nvSpPr>
        <p:spPr>
          <a:xfrm>
            <a:off x="824275" y="3764575"/>
            <a:ext cx="81591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(i) 			(ii) 			(iii) 			(iv) 			(v)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(a) 	¬(a∧¬a) 		a∨¬a 		a⇒a 		a⇒a 	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a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¬a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70"/>
          <p:cNvSpPr txBox="1"/>
          <p:nvPr>
            <p:ph idx="4294967295" type="title"/>
          </p:nvPr>
        </p:nvSpPr>
        <p:spPr>
          <a:xfrm>
            <a:off x="824275" y="544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Bài tập về nhà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38" name="Google Shape;2138;p70"/>
          <p:cNvSpPr txBox="1"/>
          <p:nvPr>
            <p:ph idx="1" type="subTitle"/>
          </p:nvPr>
        </p:nvSpPr>
        <p:spPr>
          <a:xfrm>
            <a:off x="824275" y="807025"/>
            <a:ext cx="3268200" cy="3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(1) a ∧ ¬b ⇒ a∨b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(2) (a⇒b)⇒a = a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(3) a ∧ ¬a ⇒ b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(4) (a⇒b) ∨ (b⇒a)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(5) ¬(a ∧ ¬(a∨b))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(6) a=b ∨ a=c ∨ b=c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(7) (a ⇒ ¬a) ⇒ ¬a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(8) (a⇒b) ∧ (¬a ⇒ b) = b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(9) a⇒(b⇒a)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71"/>
          <p:cNvSpPr txBox="1"/>
          <p:nvPr>
            <p:ph idx="4294967295" type="title"/>
          </p:nvPr>
        </p:nvSpPr>
        <p:spPr>
          <a:xfrm>
            <a:off x="824275" y="544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Bài tập về nhà (1)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4" name="Google Shape;2144;p71"/>
          <p:cNvSpPr txBox="1"/>
          <p:nvPr>
            <p:ph idx="1" type="subTitle"/>
          </p:nvPr>
        </p:nvSpPr>
        <p:spPr>
          <a:xfrm>
            <a:off x="824275" y="736225"/>
            <a:ext cx="7797900" cy="3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(11) a∧b ∨ a∧¬b == a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(12) a ⇒ a∧b == a⇒b == a∨b ⇒ b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(13) (¬a⇒¬b) ∧ (a⧧b) ∨ (a∧c ⇒ b∧c)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(14) (a ⇒ a∧b) ∨ (b ⇒ a∧b)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(15) (a⇒b) ∧ (c⇒d) ∧ (a∨c) ⇒ (b∨d)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(16) (a⇒b⇒¬a) ∨ (b∧c ⇒ a∧c)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72"/>
          <p:cNvSpPr txBox="1"/>
          <p:nvPr>
            <p:ph idx="4294967295" type="title"/>
          </p:nvPr>
        </p:nvSpPr>
        <p:spPr>
          <a:xfrm>
            <a:off x="824275" y="5447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Bài tập về nhà (2)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50" name="Google Shape;2150;p72"/>
          <p:cNvSpPr txBox="1"/>
          <p:nvPr/>
        </p:nvSpPr>
        <p:spPr>
          <a:xfrm>
            <a:off x="931175" y="980925"/>
            <a:ext cx="7463700" cy="3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trang e-sport viết rằng: "Nếu tôi không đang chơi DotA 2 thì tôi đang xem DotA 2. Và nếu tôi cũng không xem DotA 2 thì tôi đang đọc các bài viết về DotA 2". Người viết chỉ có thể làm một trong ba hành động trên tại một thời điểm.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(1) Chứng minh rằng người viết </a:t>
            </a:r>
            <a:r>
              <a:rPr b="1" i="1"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không </a:t>
            </a: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đang đọc các bài viết về DotA 2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(2) Người viết đang làm gì?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32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Autosar SRS</a:t>
            </a:r>
            <a:endParaRPr b="1" sz="32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73"/>
          <p:cNvSpPr txBox="1"/>
          <p:nvPr>
            <p:ph type="title"/>
          </p:nvPr>
        </p:nvSpPr>
        <p:spPr>
          <a:xfrm>
            <a:off x="2243200" y="1688000"/>
            <a:ext cx="51057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Question?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